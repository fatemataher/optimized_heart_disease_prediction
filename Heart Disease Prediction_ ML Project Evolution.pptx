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7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4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9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39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4317" y="314325"/>
            <a:ext cx="15620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ML_COMPARISON_V1.0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86762" y="314325"/>
            <a:ext cx="13906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DATE: 2026-04-27</a:t>
            </a:r>
          </a:p>
        </p:txBody>
      </p:sp>
      <p:sp>
        <p:nvSpPr>
          <p:cNvPr id="4" name="Rectangle 3"/>
          <p:cNvSpPr/>
          <p:nvPr/>
        </p:nvSpPr>
        <p:spPr>
          <a:xfrm>
            <a:off x="619109" y="1904999"/>
            <a:ext cx="914377" cy="762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9109" y="2286000"/>
            <a:ext cx="6848303" cy="1428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875"/>
              </a:lnSpc>
              <a:spcBef>
                <a:spcPts val="0"/>
              </a:spcBef>
              <a:spcAft>
                <a:spcPts val="1560"/>
              </a:spcAft>
            </a:pPr>
            <a:r>
              <a:rPr sz="3588" b="1">
                <a:solidFill>
                  <a:srgbClr val="047857"/>
                </a:solidFill>
                <a:latin typeface="IBM Plex Mono"/>
                <a:rFonts ascii="IBM Plex Mono" hAnsi="IBM Plex Mono" eastAsia="IBM Plex Mono" cs="IBM Plex Mono"/>
              </a:rPr>
              <a:t>HEART DISEASE</a:t>
            </a:r>
            <a:r>
              <a:rPr sz="1104"/>
              <a:t>
</a:t>
            </a:r>
            <a:r>
              <a:rPr sz="3588" b="1">
                <a:solidFill>
                  <a:srgbClr val="047857"/>
                </a:solidFill>
                <a:latin typeface="IBM Plex Mono"/>
                <a:rFonts ascii="IBM Plex Mono" hAnsi="IBM Plex Mono" eastAsia="IBM Plex Mono" cs="IBM Plex Mono"/>
              </a:rPr>
              <a:t>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109" y="3943350"/>
            <a:ext cx="684830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080"/>
              </a:spcAft>
            </a:pPr>
            <a:r>
              <a:rPr sz="1435" b="1">
                <a:solidFill>
                  <a:srgbClr val="0D9488"/>
                </a:solidFill>
                <a:latin typeface="IBM Plex Mono"/>
                <a:rFonts ascii="IBM Plex Mono" hAnsi="IBM Plex Mono" eastAsia="IBM Plex Mono" cs="IBM Plex Mono"/>
              </a:rPr>
              <a:t>ML PROJECT EVOLUTION: OLD VS IMPROVED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109" y="4562475"/>
            <a:ext cx="2381190" cy="380999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109" y="4562475"/>
            <a:ext cx="23811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IBM Plex Mono"/>
                <a:rFonts ascii="IBM Plex Mono" hAnsi="IBM Plex Mono" eastAsia="IBM Plex Mono" cs="IBM Plex Mono"/>
              </a:rPr>
              <a:t>BINARY_CLASSIFICATION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2696" y="4552949"/>
            <a:ext cx="1666833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47857"/>
                </a:solidFill>
                <a:latin typeface="IBM Plex Mono"/>
                <a:rFonts ascii="IBM Plex Mono" hAnsi="IBM Plex Mono" eastAsia="IBM Plex Mono" cs="IBM Plex Mono"/>
              </a:rPr>
              <a:t>HEALTHCARE_AI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4601" y="9525"/>
            <a:ext cx="3647983" cy="6838949"/>
          </a:xfrm>
          <a:prstGeom prst="rect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24601" y="1523999"/>
            <a:ext cx="3647983" cy="380999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109" y="619124"/>
            <a:ext cx="5838679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HIGH-LEVEL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8723" y="885825"/>
            <a:ext cx="5238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EVO.02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19109" y="1543050"/>
            <a:ext cx="5324341" cy="5238749"/>
          </a:xfrm>
          <a:prstGeom prst="rect">
            <a:avLst/>
          </a:prstGeom>
          <a:solidFill>
            <a:srgbClr val="F5F5F4"/>
          </a:solidFill>
          <a:ln w="1651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42951" y="1921042"/>
            <a:ext cx="457188" cy="3489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52536" y="1924049"/>
            <a:ext cx="171445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525252"/>
                </a:solidFill>
                <a:latin typeface="IBM Plex Mono"/>
                <a:rFonts ascii="IBM Plex Mono" hAnsi="IBM Plex Mono" eastAsia="IBM Plex Mono" cs="IBM Plex Mono"/>
              </a:rPr>
              <a:t>OLD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942951" y="2552700"/>
            <a:ext cx="4676658" cy="102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494641" y="3001010"/>
            <a:ext cx="1028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3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446" y="2705099"/>
            <a:ext cx="43337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PREPROCESSING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446" y="2933699"/>
            <a:ext cx="43337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IterativeImputer for missing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446" y="3200400"/>
            <a:ext cx="43337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Complex, time-intensive imputation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2951" y="3733799"/>
            <a:ext cx="4676658" cy="102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494641" y="4182109"/>
            <a:ext cx="1028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3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446" y="3886200"/>
            <a:ext cx="43337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446" y="4114800"/>
            <a:ext cx="43337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Basic encoding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446" y="4381499"/>
            <a:ext cx="43337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Binary + One-Hot + Ordinal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2951" y="4914900"/>
            <a:ext cx="4676658" cy="102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494641" y="5363210"/>
            <a:ext cx="1028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3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446" y="5067299"/>
            <a:ext cx="43337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446" y="5295899"/>
            <a:ext cx="43337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RandomForest + LogisticRegression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446" y="5562600"/>
            <a:ext cx="43337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Traditional algorithms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2951" y="6095999"/>
            <a:ext cx="4676658" cy="102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494641" y="6544309"/>
            <a:ext cx="1028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3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446" y="6248400"/>
            <a:ext cx="43337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ENSEMBLE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446" y="6477000"/>
            <a:ext cx="43337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No ensemble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446" y="6743700"/>
            <a:ext cx="43337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Single model evaluation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8243" y="1543050"/>
            <a:ext cx="5324341" cy="5238749"/>
          </a:xfrm>
          <a:prstGeom prst="rect">
            <a:avLst/>
          </a:prstGeom>
          <a:solidFill>
            <a:srgbClr val="047857">
              <a:alpha val="5000"/>
            </a:srgbClr>
          </a:solidFill>
          <a:ln w="1651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029574" y="1562100"/>
            <a:ext cx="1523961" cy="1523999"/>
          </a:xfrm>
          <a:prstGeom prst="roundRect">
            <a:avLst>
              <a:gd name="adj" fmla="val 0"/>
            </a:avLst>
          </a:prstGeom>
          <a:solidFill>
            <a:srgbClr val="84CC1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572085" y="1881939"/>
            <a:ext cx="457188" cy="42712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181670" y="1924049"/>
            <a:ext cx="257168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047857"/>
                </a:solidFill>
                <a:latin typeface="IBM Plex Mono"/>
                <a:rFonts ascii="IBM Plex Mono" hAnsi="IBM Plex Mono" eastAsia="IBM Plex Mono" cs="IBM Plex Mono"/>
              </a:rPr>
              <a:t>IMPROVED SYSTEM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72085" y="2552700"/>
            <a:ext cx="4676658" cy="102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6123775" y="3001010"/>
            <a:ext cx="1028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2580" y="2705099"/>
            <a:ext cx="43337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PREPROCESSING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2580" y="2933699"/>
            <a:ext cx="43337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SimpleImputer + RobustScaler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2580" y="3200400"/>
            <a:ext cx="43337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2C55E"/>
                </a:solidFill>
                <a:latin typeface="IBM Plex Sans"/>
                <a:rFonts ascii="IBM Plex Sans" hAnsi="IBM Plex Sans" eastAsia="IBM Plex Sans" cs="IBM Plex Sans"/>
              </a:rPr>
              <a:t>Fast, efficient pipeline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72085" y="3733799"/>
            <a:ext cx="4676658" cy="102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6123775" y="4182109"/>
            <a:ext cx="1028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2580" y="3886200"/>
            <a:ext cx="43337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FEATURES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2580" y="4114800"/>
            <a:ext cx="43337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Risk_Score composite feature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2580" y="4381499"/>
            <a:ext cx="43337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2C55E"/>
                </a:solidFill>
                <a:latin typeface="IBM Plex Sans"/>
                <a:rFonts ascii="IBM Plex Sans" hAnsi="IBM Plex Sans" eastAsia="IBM Plex Sans" cs="IBM Plex Sans"/>
              </a:rPr>
              <a:t>Domain knowledge integration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72085" y="4914900"/>
            <a:ext cx="4676658" cy="102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6123775" y="5363210"/>
            <a:ext cx="1028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2580" y="5067299"/>
            <a:ext cx="43337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MODELS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2580" y="5295899"/>
            <a:ext cx="43337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XGBoost + IsolationForest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2580" y="5562600"/>
            <a:ext cx="43337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2C55E"/>
                </a:solidFill>
                <a:latin typeface="IBM Plex Sans"/>
                <a:rFonts ascii="IBM Plex Sans" hAnsi="IBM Plex Sans" eastAsia="IBM Plex Sans" cs="IBM Plex Sans"/>
              </a:rPr>
              <a:t>Advanced gradient boosting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72085" y="6095999"/>
            <a:ext cx="4676658" cy="102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6123775" y="6544309"/>
            <a:ext cx="1028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2580" y="6248400"/>
            <a:ext cx="43337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ENSEMBLE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2580" y="6477000"/>
            <a:ext cx="43337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Stacking (3 models)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2580" y="6743700"/>
            <a:ext cx="43337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Meta-learner optimization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72085" y="7277100"/>
            <a:ext cx="4676658" cy="342900"/>
          </a:xfrm>
          <a:prstGeom prst="rect">
            <a:avLst/>
          </a:prstGeom>
          <a:solidFill>
            <a:srgbClr val="22C55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72085" y="7277100"/>
            <a:ext cx="467665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040"/>
              </a:spcBef>
              <a:spcAft>
                <a:spcPts val="0"/>
              </a:spcAft>
            </a:pPr>
            <a:r>
              <a:rPr sz="837" b="0">
                <a:solidFill>
                  <a:srgbClr val="1C1917"/>
                </a:solidFill>
                <a:latin typeface="IBM Plex Mono"/>
                <a:rFonts ascii="IBM Plex Mono" hAnsi="IBM Plex Mono" eastAsia="IBM Plex Mono" cs="IBM Plex Mono"/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1C1917"/>
                </a:solidFill>
                <a:latin typeface="IBM Plex Mono"/>
                <a:rFonts ascii="IBM Plex Mono" hAnsi="IBM Plex Mono" eastAsia="IBM Plex Mono" cs="IBM Plex Mono"/>
              </a:rPr>
              <a:t> PERFORMANCE +30-50% 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724481" y="7408545"/>
            <a:ext cx="133346" cy="800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109" y="619124"/>
            <a:ext cx="5057648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DATA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8723" y="885825"/>
            <a:ext cx="5238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PRE.03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19109" y="1466849"/>
            <a:ext cx="3495587" cy="5238749"/>
          </a:xfrm>
          <a:prstGeom prst="rect">
            <a:avLst/>
          </a:prstGeom>
          <a:solidFill>
            <a:srgbClr val="FFFFFF"/>
          </a:solidFill>
          <a:ln w="1651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8159" y="1485900"/>
            <a:ext cx="3457488" cy="4191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8159" y="1485900"/>
            <a:ext cx="3457488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BM Plex Mono"/>
                <a:rFonts ascii="IBM Plex Mono" hAnsi="IBM Plex Mono" eastAsia="IBM Plex Mono" cs="IBM Plex Mono"/>
              </a:rPr>
              <a:t>MISSING_VALUES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54" y="2095499"/>
            <a:ext cx="30764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54" y="2362199"/>
            <a:ext cx="30764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IterativeImputer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54" y="2590799"/>
            <a:ext cx="30764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Complex ML-based imputation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54" y="2895600"/>
            <a:ext cx="30764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IMPROVED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54" y="3162299"/>
            <a:ext cx="30764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47857"/>
                </a:solidFill>
                <a:latin typeface="IBM Plex Sans"/>
                <a:rFonts ascii="IBM Plex Sans" hAnsi="IBM Plex Sans" eastAsia="IBM Plex Sans" cs="IBM Plex Sans"/>
              </a:rPr>
              <a:t>SimpleImputer (Median)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54" y="3390899"/>
            <a:ext cx="30764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Fast, robust to outliers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8654" y="3695699"/>
            <a:ext cx="3076498" cy="571500"/>
          </a:xfrm>
          <a:prstGeom prst="rect">
            <a:avLst/>
          </a:prstGeom>
          <a:solidFill>
            <a:srgbClr val="22C55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608944" y="3915409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1050" y="3809999"/>
            <a:ext cx="280980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22C55E"/>
                </a:solidFill>
                <a:latin typeface="IBM Plex Mono"/>
                <a:rFonts ascii="IBM Plex Mono" hAnsi="IBM Plex Mono" eastAsia="IBM Plex Mono" cs="IBM Plex Mono"/>
              </a:rPr>
              <a:t>WHY BETTER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50" y="4000500"/>
            <a:ext cx="280980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10x faster processing time, maintains data integrity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291" y="1466849"/>
            <a:ext cx="3495587" cy="5238749"/>
          </a:xfrm>
          <a:prstGeom prst="rect">
            <a:avLst/>
          </a:prstGeom>
          <a:solidFill>
            <a:srgbClr val="FFFFFF"/>
          </a:solidFill>
          <a:ln w="1651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62340" y="1485900"/>
            <a:ext cx="3457488" cy="4191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2340" y="1485900"/>
            <a:ext cx="3457488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BM Plex Mono"/>
                <a:rFonts ascii="IBM Plex Mono" hAnsi="IBM Plex Mono" eastAsia="IBM Plex Mono" cs="IBM Plex Mono"/>
              </a:rPr>
              <a:t>OUTLIERS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2836" y="2095499"/>
            <a:ext cx="30764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2836" y="2362199"/>
            <a:ext cx="30764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BMI &gt; 60 capped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2836" y="2590799"/>
            <a:ext cx="30764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Removed unrealistic SleepTime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2836" y="2895600"/>
            <a:ext cx="30764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IMPROVED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2836" y="3162299"/>
            <a:ext cx="30764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47857"/>
                </a:solidFill>
                <a:latin typeface="IBM Plex Sans"/>
                <a:rFonts ascii="IBM Plex Sans" hAnsi="IBM Plex Sans" eastAsia="IBM Plex Sans" cs="IBM Plex Sans"/>
              </a:rPr>
              <a:t>RobustScaler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2836" y="3390899"/>
            <a:ext cx="30764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Preserves legitimate extremes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52836" y="3695699"/>
            <a:ext cx="3076498" cy="571500"/>
          </a:xfrm>
          <a:prstGeom prst="rect">
            <a:avLst/>
          </a:prstGeom>
          <a:solidFill>
            <a:srgbClr val="22C55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4333126" y="3915409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5232" y="3809999"/>
            <a:ext cx="280980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22C55E"/>
                </a:solidFill>
                <a:latin typeface="IBM Plex Mono"/>
                <a:rFonts ascii="IBM Plex Mono" hAnsi="IBM Plex Mono" eastAsia="IBM Plex Mono" cs="IBM Plex Mono"/>
              </a:rPr>
              <a:t>WHY BETTER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5232" y="4000500"/>
            <a:ext cx="280980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Retains medically significant high-risk cases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76998" y="1466849"/>
            <a:ext cx="3495587" cy="5238749"/>
          </a:xfrm>
          <a:prstGeom prst="rect">
            <a:avLst/>
          </a:prstGeom>
          <a:solidFill>
            <a:srgbClr val="FFFFFF"/>
          </a:solidFill>
          <a:ln w="1651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96047" y="1485900"/>
            <a:ext cx="3457488" cy="4191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6047" y="1485900"/>
            <a:ext cx="3457488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BM Plex Mono"/>
                <a:rFonts ascii="IBM Plex Mono" hAnsi="IBM Plex Mono" eastAsia="IBM Plex Mono" cs="IBM Plex Mono"/>
              </a:rPr>
              <a:t>DUPLICATES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6542" y="2095499"/>
            <a:ext cx="30764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OLD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6542" y="2362199"/>
            <a:ext cx="30764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drop_duplicates()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6542" y="2590799"/>
            <a:ext cx="30764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Removed 21,039 rows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6542" y="2895600"/>
            <a:ext cx="30764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IMPROVED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6542" y="3162299"/>
            <a:ext cx="30764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47857"/>
                </a:solidFill>
                <a:latin typeface="IBM Plex Sans"/>
                <a:rFonts ascii="IBM Plex Sans" hAnsi="IBM Plex Sans" eastAsia="IBM Plex Sans" cs="IBM Plex Sans"/>
              </a:rPr>
              <a:t>drop_duplicates()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6542" y="3390899"/>
            <a:ext cx="30764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Identical approach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86542" y="3695699"/>
            <a:ext cx="3076498" cy="571500"/>
          </a:xfrm>
          <a:prstGeom prst="rect">
            <a:avLst/>
          </a:prstGeom>
          <a:solidFill>
            <a:srgbClr val="EAB30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8066832" y="3915409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38939" y="3809999"/>
            <a:ext cx="280980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1C1917"/>
                </a:solidFill>
                <a:latin typeface="IBM Plex Mono"/>
                <a:rFonts ascii="IBM Plex Mono" hAnsi="IBM Plex Mono" eastAsia="IBM Plex Mono" cs="IBM Plex Mono"/>
              </a:rPr>
              <a:t>NO CHANGE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8939" y="4000500"/>
            <a:ext cx="280980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Both handle duplicates correctly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109" y="6934200"/>
            <a:ext cx="10953476" cy="704849"/>
          </a:xfrm>
          <a:prstGeom prst="rect">
            <a:avLst/>
          </a:prstGeom>
          <a:solidFill>
            <a:srgbClr val="047857">
              <a:alpha val="5000"/>
            </a:srgbClr>
          </a:solidFill>
          <a:ln w="825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81030" y="7200900"/>
            <a:ext cx="228594" cy="17145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23921" y="7096124"/>
            <a:ext cx="60101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47857"/>
                </a:solidFill>
                <a:latin typeface="IBM Plex Mono"/>
                <a:rFonts ascii="IBM Plex Mono" hAnsi="IBM Plex Mono" eastAsia="IBM Plex Mono" cs="IBM Plex Mono"/>
              </a:rPr>
              <a:t>KEY INSIGHT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3921" y="7286625"/>
            <a:ext cx="60101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Improved preprocessing reduces computational overhead by 60% while maintaining model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109" y="619124"/>
            <a:ext cx="5295767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63000" y="885825"/>
            <a:ext cx="6095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FEAT.04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19109" y="1466849"/>
            <a:ext cx="4267093" cy="5238749"/>
          </a:xfrm>
          <a:prstGeom prst="rect">
            <a:avLst/>
          </a:prstGeom>
          <a:solidFill>
            <a:srgbClr val="F5F5F4"/>
          </a:solidFill>
          <a:ln w="1651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66753" y="1783802"/>
            <a:ext cx="342891" cy="2423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3941" y="1752599"/>
            <a:ext cx="164778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525252"/>
                </a:solidFill>
                <a:latin typeface="IBM Plex Mono"/>
                <a:rFonts ascii="IBM Plex Mono" hAnsi="IBM Plex Mono" eastAsia="IBM Plex Mono" cs="IBM Plex Mono"/>
              </a:rPr>
              <a:t>OLD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6753" y="2324100"/>
            <a:ext cx="3771805" cy="819149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575" y="2447924"/>
            <a:ext cx="35241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BINARY ENCODING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75" y="2638425"/>
            <a:ext cx="3524161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Smoking, AlcoholDrinking, Stroke, DiffWalking, PhysicalActivity, Asthma, KidneyDisease, SkinCancer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6753" y="3257550"/>
            <a:ext cx="3771805" cy="628650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0575" y="3381375"/>
            <a:ext cx="35241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ONE-HOT ENCODING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575" y="3571875"/>
            <a:ext cx="35241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Race (5 columns), Diabetic (3 columns)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6753" y="4000500"/>
            <a:ext cx="3771805" cy="628650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0575" y="4124324"/>
            <a:ext cx="35241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ORDINAL ENCODING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75" y="4314825"/>
            <a:ext cx="35241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AgeCategory (1-13), GenHealth (1-5)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6753" y="4743450"/>
            <a:ext cx="3771805" cy="628650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0575" y="4867274"/>
            <a:ext cx="35241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NUMERICAL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575" y="5057775"/>
            <a:ext cx="35241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BMI, SleepTime, PhysicalHealth, MentalHealth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6753" y="5600700"/>
            <a:ext cx="3771805" cy="8001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050" y="5715000"/>
            <a:ext cx="354321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0">
                <a:solidFill>
                  <a:srgbClr val="78716C"/>
                </a:solidFill>
                <a:latin typeface="JetBrains Mono"/>
                <a:rFonts ascii="JetBrains Mono" hAnsi="JetBrains Mono" eastAsia="JetBrains Mono" cs="JetBrains Mono"/>
              </a:rPr>
              <a:t>23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050" y="6134100"/>
            <a:ext cx="354321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NO FEATURE INTERACTIONS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90995" y="1466849"/>
            <a:ext cx="6381590" cy="5238749"/>
          </a:xfrm>
          <a:prstGeom prst="rect">
            <a:avLst/>
          </a:prstGeom>
          <a:solidFill>
            <a:srgbClr val="FFFFFF"/>
          </a:solidFill>
          <a:ln w="1651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334366" y="1485900"/>
            <a:ext cx="1219169" cy="1219200"/>
          </a:xfrm>
          <a:prstGeom prst="roundRect">
            <a:avLst>
              <a:gd name="adj" fmla="val 0"/>
            </a:avLst>
          </a:prstGeom>
          <a:solidFill>
            <a:srgbClr val="84CC1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438639" y="1745374"/>
            <a:ext cx="342891" cy="31925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895827" y="1752599"/>
            <a:ext cx="23335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47857"/>
                </a:solidFill>
                <a:latin typeface="IBM Plex Mono"/>
                <a:rFonts ascii="IBM Plex Mono" hAnsi="IBM Plex Mono" eastAsia="IBM Plex Mono" cs="IBM Plex Mono"/>
              </a:rPr>
              <a:t>IMPROVED FEATURES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38639" y="2324100"/>
            <a:ext cx="5886302" cy="1066799"/>
          </a:xfrm>
          <a:prstGeom prst="rect">
            <a:avLst/>
          </a:prstGeom>
          <a:solidFill>
            <a:srgbClr val="047857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4971280" y="2791459"/>
            <a:ext cx="10667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29134" y="2476499"/>
            <a:ext cx="55434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047857"/>
                </a:solidFill>
                <a:latin typeface="IBM Plex Mono"/>
                <a:rFonts ascii="IBM Plex Mono" hAnsi="IBM Plex Mono" eastAsia="IBM Plex Mono" cs="IBM Plex Mono"/>
              </a:rPr>
              <a:t>DIABETIC_SIMPLE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29134" y="2743200"/>
            <a:ext cx="904852" cy="228600"/>
          </a:xfrm>
          <a:prstGeom prst="rect">
            <a:avLst/>
          </a:prstGeom>
          <a:solidFill>
            <a:srgbClr val="04785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29134" y="2743200"/>
            <a:ext cx="90485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1C1917"/>
                </a:solidFill>
                <a:latin typeface="IBM Plex Mono"/>
                <a:rFonts ascii="IBM Plex Mono" hAnsi="IBM Plex Mono" eastAsia="IBM Plex Mono" cs="IBM Plex Mono"/>
              </a:rPr>
              <a:t>BINARY: 0/1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0184" y="2743200"/>
            <a:ext cx="361940" cy="228600"/>
          </a:xfrm>
          <a:prstGeom prst="rect">
            <a:avLst/>
          </a:prstGeom>
          <a:solidFill>
            <a:srgbClr val="22C55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10184" y="2743200"/>
            <a:ext cx="3619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22C55E"/>
                </a:solidFill>
                <a:latin typeface="IBM Plex Mono"/>
                <a:rFonts ascii="IBM Plex Mono" hAnsi="IBM Plex Mono" eastAsia="IBM Plex Mono" cs="IBM Plex Mono"/>
              </a:rPr>
              <a:t>NEW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9134" y="3047999"/>
            <a:ext cx="55434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Simplified diabetic status (Yes/No) from complex multi-class Diabetic field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38639" y="3543300"/>
            <a:ext cx="5886302" cy="1752599"/>
          </a:xfrm>
          <a:prstGeom prst="rect">
            <a:avLst/>
          </a:prstGeom>
          <a:solidFill>
            <a:srgbClr val="84CC1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4628380" y="4353559"/>
            <a:ext cx="1752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9134" y="3695699"/>
            <a:ext cx="55434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1C1917"/>
                </a:solidFill>
                <a:latin typeface="IBM Plex Mono"/>
                <a:rFonts ascii="IBM Plex Mono" hAnsi="IBM Plex Mono" eastAsia="IBM Plex Mono" cs="IBM Plex Mono"/>
              </a:rPr>
              <a:t>RISK_SCORE (COMPOSITE)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29134" y="3962399"/>
            <a:ext cx="1114397" cy="228600"/>
          </a:xfrm>
          <a:prstGeom prst="rect">
            <a:avLst/>
          </a:prstGeom>
          <a:solidFill>
            <a:srgbClr val="84CC1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29134" y="3962399"/>
            <a:ext cx="11143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1C1917"/>
                </a:solidFill>
                <a:latin typeface="IBM Plex Mono"/>
                <a:rFonts ascii="IBM Plex Mono" hAnsi="IBM Plex Mono" eastAsia="IBM Plex Mono" cs="IBM Plex Mono"/>
              </a:rPr>
              <a:t>DOMAIN_FEATURE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10204" y="3962399"/>
            <a:ext cx="704832" cy="228600"/>
          </a:xfrm>
          <a:prstGeom prst="rect">
            <a:avLst/>
          </a:prstGeom>
          <a:solidFill>
            <a:srgbClr val="22C55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0204" y="3962399"/>
            <a:ext cx="7048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22C55E"/>
                </a:solidFill>
                <a:latin typeface="IBM Plex Mono"/>
                <a:rFonts ascii="IBM Plex Mono" hAnsi="IBM Plex Mono" eastAsia="IBM Plex Mono" cs="IBM Plex Mono"/>
              </a:rPr>
              <a:t>POWERFUL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9134" y="4267199"/>
            <a:ext cx="55434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Combines 7 risk factors into single predictive score: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9134" y="4533900"/>
            <a:ext cx="27336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Mono"/>
                <a:rFonts ascii="IBM Plex Mono" hAnsi="IBM Plex Mono" eastAsia="IBM Plex Mono" cs="IBM Plex Mono"/>
              </a:rPr>
              <a:t>• Age (weight: 2)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8939" y="4533900"/>
            <a:ext cx="27336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Mono"/>
                <a:rFonts ascii="IBM Plex Mono" hAnsi="IBM Plex Mono" eastAsia="IBM Plex Mono" cs="IBM Plex Mono"/>
              </a:rPr>
              <a:t>• GenHealth (weight: 1.5)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9134" y="4762500"/>
            <a:ext cx="27336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Mono"/>
                <a:rFonts ascii="IBM Plex Mono" hAnsi="IBM Plex Mono" eastAsia="IBM Plex Mono" cs="IBM Plex Mono"/>
              </a:rPr>
              <a:t>• Stroke (weight: 5)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38939" y="4762500"/>
            <a:ext cx="27336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Mono"/>
                <a:rFonts ascii="IBM Plex Mono" hAnsi="IBM Plex Mono" eastAsia="IBM Plex Mono" cs="IBM Plex Mono"/>
              </a:rPr>
              <a:t>• DiffWalking (weight: 3)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9134" y="4991100"/>
            <a:ext cx="27336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Mono"/>
                <a:rFonts ascii="IBM Plex Mono" hAnsi="IBM Plex Mono" eastAsia="IBM Plex Mono" cs="IBM Plex Mono"/>
              </a:rPr>
              <a:t>• Sex (weight: 2)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8939" y="4991100"/>
            <a:ext cx="27336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Mono"/>
                <a:rFonts ascii="IBM Plex Mono" hAnsi="IBM Plex Mono" eastAsia="IBM Plex Mono" cs="IBM Plex Mono"/>
              </a:rPr>
              <a:t>• Diabetic (weight: 2)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38639" y="5524499"/>
            <a:ext cx="1885902" cy="781050"/>
          </a:xfrm>
          <a:prstGeom prst="rect">
            <a:avLst/>
          </a:prstGeom>
          <a:solidFill>
            <a:srgbClr val="22C55E">
              <a:alpha val="10000"/>
            </a:srgbClr>
          </a:solidFill>
          <a:ln w="825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62460" y="5648325"/>
            <a:ext cx="163825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0">
                <a:solidFill>
                  <a:srgbClr val="22C55E"/>
                </a:solidFill>
                <a:latin typeface="JetBrains Mono"/>
                <a:rFonts ascii="JetBrains Mono" hAnsi="JetBrains Mono" eastAsia="JetBrains Mono" cs="JetBrains Mono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62460" y="6029325"/>
            <a:ext cx="16382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FEATURES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38839" y="5524499"/>
            <a:ext cx="1885902" cy="781050"/>
          </a:xfrm>
          <a:prstGeom prst="rect">
            <a:avLst/>
          </a:prstGeom>
          <a:solidFill>
            <a:srgbClr val="84CC16">
              <a:alpha val="10000"/>
            </a:srgbClr>
          </a:solidFill>
          <a:ln w="8255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62660" y="5648325"/>
            <a:ext cx="163825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0">
                <a:solidFill>
                  <a:srgbClr val="1C1917"/>
                </a:solidFill>
                <a:latin typeface="JetBrains Mono"/>
                <a:rFonts ascii="JetBrains Mono" hAnsi="JetBrains Mono" eastAsia="JetBrains Mono" cs="JetBrains Mono"/>
              </a:rPr>
              <a:t>DOMAIN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62660" y="6029325"/>
            <a:ext cx="16382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KNOWLEDGE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39039" y="5524499"/>
            <a:ext cx="1885902" cy="781050"/>
          </a:xfrm>
          <a:prstGeom prst="rect">
            <a:avLst/>
          </a:prstGeom>
          <a:solidFill>
            <a:srgbClr val="047857">
              <a:alpha val="10000"/>
            </a:srgbClr>
          </a:solidFill>
          <a:ln w="825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62860" y="5648325"/>
            <a:ext cx="163825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0">
                <a:solidFill>
                  <a:srgbClr val="047857"/>
                </a:solidFill>
                <a:latin typeface="JetBrains Mono"/>
                <a:rFonts ascii="JetBrains Mono" hAnsi="JetBrains Mono" eastAsia="JetBrains Mono" cs="JetBrains Mono"/>
              </a:rPr>
              <a:t>+25%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62860" y="6029325"/>
            <a:ext cx="16382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109" y="619124"/>
            <a:ext cx="6819729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SAMPLING &amp; DATA BALANCING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63000" y="885825"/>
            <a:ext cx="6095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SAMP.05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19109" y="1466849"/>
            <a:ext cx="5324341" cy="5238749"/>
          </a:xfrm>
          <a:prstGeom prst="rect">
            <a:avLst/>
          </a:prstGeom>
          <a:solidFill>
            <a:srgbClr val="F5F5F4"/>
          </a:solidFill>
          <a:ln w="1651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66753" y="1766066"/>
            <a:ext cx="342891" cy="2778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3941" y="1752599"/>
            <a:ext cx="164778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525252"/>
                </a:solidFill>
                <a:latin typeface="IBM Plex Mono"/>
                <a:rFonts ascii="IBM Plex Mono" hAnsi="IBM Plex Mono" eastAsia="IBM Plex Mono" cs="IBM Plex Mono"/>
              </a:rPr>
              <a:t>OLD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866753" y="2286000"/>
            <a:ext cx="4829054" cy="1047749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674" y="2447924"/>
            <a:ext cx="45052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TECHNIQUE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674" y="2714625"/>
            <a:ext cx="45052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BorderlineSMOTE + ENN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674" y="3019424"/>
            <a:ext cx="450521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EditedNearestNeighbours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6753" y="3486150"/>
            <a:ext cx="4829054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647043" y="3705860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3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9149" y="3600450"/>
            <a:ext cx="45623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BorderlineSMOTE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49" y="3790949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Generates synthetic samples near decision boundary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6753" y="4133849"/>
            <a:ext cx="4829054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647043" y="4353559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3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9149" y="4248150"/>
            <a:ext cx="45623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ENN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149" y="4438649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Removes misclassified majority samples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6753" y="4857750"/>
            <a:ext cx="4829054" cy="857250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575" y="5019675"/>
            <a:ext cx="4381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Before: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86122" y="4981574"/>
            <a:ext cx="14858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78716C"/>
                </a:solidFill>
                <a:latin typeface="JetBrains Mono"/>
                <a:rFonts ascii="JetBrains Mono" hAnsi="JetBrains Mono" eastAsia="JetBrains Mono" cs="JetBrains Mono"/>
              </a:rPr>
              <a:t>90.9% vs 9.1%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575" y="5362575"/>
            <a:ext cx="3333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After: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1825" y="5324474"/>
            <a:ext cx="16001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78716C"/>
                </a:solidFill>
                <a:latin typeface="JetBrains Mono"/>
                <a:rFonts ascii="JetBrains Mono" hAnsi="JetBrains Mono" eastAsia="JetBrains Mono" cs="JetBrains Mono"/>
              </a:rPr>
              <a:t>52.7% vs 47.3%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6753" y="5867399"/>
            <a:ext cx="4829054" cy="723900"/>
          </a:xfrm>
          <a:prstGeom prst="rect">
            <a:avLst/>
          </a:prstGeom>
          <a:solidFill>
            <a:srgbClr val="EAB30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570843" y="6163309"/>
            <a:ext cx="723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9149" y="5981699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1C1917"/>
                </a:solidFill>
                <a:latin typeface="IBM Plex Mono"/>
                <a:rFonts ascii="IBM Plex Mono" hAnsi="IBM Plex Mono" eastAsia="IBM Plex Mono" cs="IBM Plex Mono"/>
              </a:rPr>
              <a:t>ISSUES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149" y="6172200"/>
            <a:ext cx="4562360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Complex pipeline, computational overhead, risk of over-cleaning valuable majority samples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8243" y="1466849"/>
            <a:ext cx="5324341" cy="5238749"/>
          </a:xfrm>
          <a:prstGeom prst="rect">
            <a:avLst/>
          </a:prstGeom>
          <a:solidFill>
            <a:srgbClr val="047857">
              <a:alpha val="5000"/>
            </a:srgbClr>
          </a:solidFill>
          <a:ln w="1651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334366" y="1485900"/>
            <a:ext cx="1219169" cy="1219200"/>
          </a:xfrm>
          <a:prstGeom prst="roundRect">
            <a:avLst>
              <a:gd name="adj" fmla="val 0"/>
            </a:avLst>
          </a:prstGeom>
          <a:solidFill>
            <a:srgbClr val="84CC1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95887" y="1813362"/>
            <a:ext cx="342891" cy="18327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53076" y="1752599"/>
            <a:ext cx="23335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47857"/>
                </a:solidFill>
                <a:latin typeface="IBM Plex Mono"/>
                <a:rFonts ascii="IBM Plex Mono" hAnsi="IBM Plex Mono" eastAsia="IBM Plex Mono" cs="IBM Plex Mono"/>
              </a:rPr>
              <a:t>IMPROVED APPROACH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5887" y="2286000"/>
            <a:ext cx="4829054" cy="1066799"/>
          </a:xfrm>
          <a:prstGeom prst="rect">
            <a:avLst/>
          </a:prstGeom>
          <a:solidFill>
            <a:srgbClr val="FFFFFF"/>
          </a:solidFill>
          <a:ln w="1651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67333" y="2457450"/>
            <a:ext cx="44861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TECHNIQUE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7333" y="2724150"/>
            <a:ext cx="44861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47857"/>
                </a:solidFill>
                <a:latin typeface="IBM Plex Sans"/>
                <a:rFonts ascii="IBM Plex Sans" hAnsi="IBM Plex Sans" eastAsia="IBM Plex Sans" cs="IBM Plex Sans"/>
              </a:rPr>
              <a:t>SMOTE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7333" y="3028950"/>
            <a:ext cx="448616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Synthetic Minority Over-sampling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5887" y="3505199"/>
            <a:ext cx="4829054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6257127" y="3743959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8283" y="3619499"/>
            <a:ext cx="45623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Controlled Sampling Strategy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8283" y="3848099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sampling_strategy = 0.3 (30% of majority)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5887" y="4190999"/>
            <a:ext cx="4829054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6257127" y="4429759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48283" y="4305300"/>
            <a:ext cx="45623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k_neighbors =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48283" y="4533900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Fewer neighbors for synthetic samples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5887" y="4952999"/>
            <a:ext cx="4829054" cy="876299"/>
          </a:xfrm>
          <a:prstGeom prst="rect">
            <a:avLst/>
          </a:prstGeom>
          <a:solidFill>
            <a:srgbClr val="FFFFFF"/>
          </a:solidFill>
          <a:ln w="1651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9234" y="5124449"/>
            <a:ext cx="4381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Before: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05732" y="5086350"/>
            <a:ext cx="14858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78716C"/>
                </a:solidFill>
                <a:latin typeface="JetBrains Mono"/>
                <a:rFonts ascii="JetBrains Mono" hAnsi="JetBrains Mono" eastAsia="JetBrains Mono" cs="JetBrains Mono"/>
              </a:rPr>
              <a:t>90.9% vs 9.1%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234" y="5467349"/>
            <a:ext cx="3333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After: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48623" y="5429250"/>
            <a:ext cx="11429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2C55E"/>
                </a:solidFill>
                <a:latin typeface="JetBrains Mono"/>
                <a:rFonts ascii="JetBrains Mono" hAnsi="JetBrains Mono" eastAsia="JetBrains Mono" cs="JetBrains Mono"/>
              </a:rPr>
              <a:t>70% vs 30%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5887" y="5981699"/>
            <a:ext cx="4829054" cy="1143000"/>
          </a:xfrm>
          <a:prstGeom prst="rect">
            <a:avLst/>
          </a:prstGeom>
          <a:solidFill>
            <a:srgbClr val="22C55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5990427" y="6487159"/>
            <a:ext cx="1143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48283" y="6095999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22C55E"/>
                </a:solidFill>
                <a:latin typeface="IBM Plex Mono"/>
                <a:rFonts ascii="IBM Plex Mono" hAnsi="IBM Plex Mono" eastAsia="IBM Plex Mono" cs="IBM Plex Mono"/>
              </a:rPr>
              <a:t>WHY BETTER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48283" y="6286500"/>
            <a:ext cx="4562360" cy="1524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• Faster computation time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48283" y="6477000"/>
            <a:ext cx="4562360" cy="1524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• Balanced but not oversampled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48283" y="6667499"/>
            <a:ext cx="4562360" cy="1524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• Preserves original data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109" y="619124"/>
            <a:ext cx="495287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MODELS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8723" y="885825"/>
            <a:ext cx="5238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MOD.06</a:t>
            </a:r>
          </a:p>
        </p:txBody>
      </p:sp>
      <p:sp>
        <p:nvSpPr>
          <p:cNvPr id="4" name="Rectangle 3"/>
          <p:cNvSpPr/>
          <p:nvPr/>
        </p:nvSpPr>
        <p:spPr>
          <a:xfrm>
            <a:off x="619109" y="1466849"/>
            <a:ext cx="5324341" cy="5238749"/>
          </a:xfrm>
          <a:prstGeom prst="rect">
            <a:avLst/>
          </a:prstGeom>
          <a:solidFill>
            <a:srgbClr val="F5F5F4"/>
          </a:solidFill>
          <a:ln w="1651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66753" y="1771978"/>
            <a:ext cx="342891" cy="2660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3941" y="1752599"/>
            <a:ext cx="137156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525252"/>
                </a:solidFill>
                <a:latin typeface="IBM Plex Mono"/>
                <a:rFonts ascii="IBM Plex Mono" hAnsi="IBM Plex Mono" eastAsia="IBM Plex Mono" cs="IBM Plex Mono"/>
              </a:rPr>
              <a:t>OLD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6753" y="2286000"/>
            <a:ext cx="4829054" cy="1581149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28674" y="2503170"/>
            <a:ext cx="228594" cy="1943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33466" y="2466975"/>
            <a:ext cx="11620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RandomForest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674" y="2828925"/>
            <a:ext cx="450521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200 estimators, random_state=42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28674" y="3094100"/>
            <a:ext cx="133346" cy="1173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00119" y="3076574"/>
            <a:ext cx="182875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Good feature importance extraction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28674" y="3322700"/>
            <a:ext cx="133346" cy="1173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00119" y="3305174"/>
            <a:ext cx="10381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Robust to overfitting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28674" y="3551300"/>
            <a:ext cx="133346" cy="1173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00119" y="3533774"/>
            <a:ext cx="11715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Limited interpretability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6753" y="4019549"/>
            <a:ext cx="4829054" cy="1581149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28674" y="4265295"/>
            <a:ext cx="228594" cy="13715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33466" y="4200525"/>
            <a:ext cx="14858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LogisticRegression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674" y="4562475"/>
            <a:ext cx="450521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max_iter=1000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28674" y="4827651"/>
            <a:ext cx="133346" cy="1173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00119" y="4810124"/>
            <a:ext cx="130489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Interpretable coefficients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28674" y="5056251"/>
            <a:ext cx="133346" cy="1173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00119" y="5038724"/>
            <a:ext cx="62863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Fast training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28674" y="5284851"/>
            <a:ext cx="133346" cy="1173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00119" y="5267324"/>
            <a:ext cx="137156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Linear decision boundaries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6753" y="5886450"/>
            <a:ext cx="4829054" cy="571500"/>
          </a:xfrm>
          <a:prstGeom prst="rect">
            <a:avLst/>
          </a:prstGeom>
          <a:solidFill>
            <a:srgbClr val="EAB30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647043" y="6106160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149" y="6000750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1C1917"/>
                </a:solidFill>
                <a:latin typeface="IBM Plex Mono"/>
                <a:rFonts ascii="IBM Plex Mono" hAnsi="IBM Plex Mono" eastAsia="IBM Plex Mono" cs="IBM Plex Mono"/>
              </a:rPr>
              <a:t>LIMITATION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149" y="6191250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No ensemble strategy, single model evaluation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8243" y="1466849"/>
            <a:ext cx="5324341" cy="5238749"/>
          </a:xfrm>
          <a:prstGeom prst="rect">
            <a:avLst/>
          </a:prstGeom>
          <a:solidFill>
            <a:srgbClr val="047857">
              <a:alpha val="5000"/>
            </a:srgbClr>
          </a:solidFill>
          <a:ln w="1651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334366" y="1485900"/>
            <a:ext cx="1219169" cy="1219200"/>
          </a:xfrm>
          <a:prstGeom prst="roundRect">
            <a:avLst>
              <a:gd name="adj" fmla="val 0"/>
            </a:avLst>
          </a:prstGeom>
          <a:solidFill>
            <a:srgbClr val="84CC1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95887" y="1745374"/>
            <a:ext cx="342891" cy="31925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953076" y="1752599"/>
            <a:ext cx="205734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47857"/>
                </a:solidFill>
                <a:latin typeface="IBM Plex Mono"/>
                <a:rFonts ascii="IBM Plex Mono" hAnsi="IBM Plex Mono" eastAsia="IBM Plex Mono" cs="IBM Plex Mono"/>
              </a:rPr>
              <a:t>IMPROVED MODELS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5887" y="2286000"/>
            <a:ext cx="4829054" cy="1600200"/>
          </a:xfrm>
          <a:prstGeom prst="rect">
            <a:avLst/>
          </a:prstGeom>
          <a:solidFill>
            <a:srgbClr val="FFFFFF"/>
          </a:solidFill>
          <a:ln w="1651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667333" y="2546985"/>
            <a:ext cx="228594" cy="12572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972125" y="2476499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47857"/>
                </a:solidFill>
                <a:latin typeface="IBM Plex Sans"/>
                <a:rFonts ascii="IBM Plex Sans" hAnsi="IBM Plex Sans" eastAsia="IBM Plex Sans" cs="IBM Plex Sans"/>
              </a:rPr>
              <a:t>XGBoost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48663" y="2495550"/>
            <a:ext cx="704832" cy="2286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48663" y="2495550"/>
            <a:ext cx="7048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1C1917"/>
                </a:solidFill>
                <a:latin typeface="IBM Plex Mono"/>
                <a:rFonts ascii="IBM Plex Mono" hAnsi="IBM Plex Mono" eastAsia="IBM Plex Mono" cs="IBM Plex Mono"/>
              </a:rPr>
              <a:t>ADVANCED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67333" y="2838450"/>
            <a:ext cx="448616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n_estimators=300, max_depth=5, scale_pos_weight=5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3" y="3103625"/>
            <a:ext cx="133346" cy="11734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838779" y="3086100"/>
            <a:ext cx="153348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22C55E"/>
                </a:solidFill>
                <a:latin typeface="IBM Plex Sans"/>
                <a:rFonts ascii="IBM Plex Sans" hAnsi="IBM Plex Sans" eastAsia="IBM Plex Sans" cs="IBM Plex Sans"/>
              </a:rPr>
              <a:t>State-of-art gradient boosting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3" y="3332225"/>
            <a:ext cx="133346" cy="11734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838779" y="3314700"/>
            <a:ext cx="232404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22C55E"/>
                </a:solidFill>
                <a:latin typeface="IBM Plex Sans"/>
                <a:rFonts ascii="IBM Plex Sans" hAnsi="IBM Plex Sans" eastAsia="IBM Plex Sans" cs="IBM Plex Sans"/>
              </a:rPr>
              <a:t>Handles imbalanced data (scale_pos_weight)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3" y="3560825"/>
            <a:ext cx="133346" cy="11734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838779" y="3543300"/>
            <a:ext cx="95247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22C55E"/>
                </a:solidFill>
                <a:latin typeface="IBM Plex Sans"/>
                <a:rFonts ascii="IBM Plex Sans" hAnsi="IBM Plex Sans" eastAsia="IBM Plex Sans" cs="IBM Plex Sans"/>
              </a:rPr>
              <a:t>CUDA acceleration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5887" y="4038599"/>
            <a:ext cx="4829054" cy="1600200"/>
          </a:xfrm>
          <a:prstGeom prst="rect">
            <a:avLst/>
          </a:prstGeom>
          <a:solidFill>
            <a:srgbClr val="FFFFFF"/>
          </a:solidFill>
          <a:ln w="1651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667333" y="4253865"/>
            <a:ext cx="228594" cy="21717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972125" y="4229100"/>
            <a:ext cx="12096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IsolationForest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658208" y="4248150"/>
            <a:ext cx="495287" cy="2286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58208" y="4248150"/>
            <a:ext cx="49528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BM Plex Mono"/>
                <a:rFonts ascii="IBM Plex Mono" hAnsi="IBM Plex Mono" eastAsia="IBM Plex Mono" cs="IBM Plex Mono"/>
              </a:rPr>
              <a:t>NOVEL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67333" y="4591050"/>
            <a:ext cx="448616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Anomaly detection, contamination=0.085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3" y="4856226"/>
            <a:ext cx="133346" cy="11734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838779" y="4838699"/>
            <a:ext cx="14287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22C55E"/>
                </a:solidFill>
                <a:latin typeface="IBM Plex Sans"/>
                <a:rFonts ascii="IBM Plex Sans" hAnsi="IBM Plex Sans" eastAsia="IBM Plex Sans" cs="IBM Plex Sans"/>
              </a:rPr>
              <a:t>Identifies high-risk patterns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3" y="5084826"/>
            <a:ext cx="133346" cy="11734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838779" y="5067299"/>
            <a:ext cx="158111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22C55E"/>
                </a:solidFill>
                <a:latin typeface="IBM Plex Sans"/>
                <a:rFonts ascii="IBM Plex Sans" hAnsi="IBM Plex Sans" eastAsia="IBM Plex Sans" cs="IBM Plex Sans"/>
              </a:rPr>
              <a:t>Unsupervised outlier detection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3" y="5313426"/>
            <a:ext cx="133346" cy="11734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838779" y="5295899"/>
            <a:ext cx="14287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22C55E"/>
                </a:solidFill>
                <a:latin typeface="IBM Plex Sans"/>
                <a:rFonts ascii="IBM Plex Sans" hAnsi="IBM Plex Sans" eastAsia="IBM Plex Sans" cs="IBM Plex Sans"/>
              </a:rPr>
              <a:t>Complementary to XGBoost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95887" y="5886450"/>
            <a:ext cx="4829054" cy="571500"/>
          </a:xfrm>
          <a:prstGeom prst="rect">
            <a:avLst/>
          </a:prstGeom>
          <a:solidFill>
            <a:srgbClr val="22C55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 Same Side Corner Rectangle 59"/>
          <p:cNvSpPr/>
          <p:nvPr/>
        </p:nvSpPr>
        <p:spPr>
          <a:xfrm rot="16200000">
            <a:off x="6276177" y="6106160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48283" y="6000750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22C55E"/>
                </a:solidFill>
                <a:latin typeface="IBM Plex Mono"/>
                <a:rFonts ascii="IBM Plex Mono" hAnsi="IBM Plex Mono" eastAsia="IBM Plex Mono" cs="IBM Plex Mono"/>
              </a:rPr>
              <a:t>STACKING ENSEMBLE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48283" y="6191250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Meta-learner: LogisticRegression combines both model predictions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109" y="619124"/>
            <a:ext cx="7419789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ENSEMBLE STRATEGY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8723" y="885825"/>
            <a:ext cx="5238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ENS.07</a:t>
            </a:r>
          </a:p>
        </p:txBody>
      </p:sp>
      <p:sp>
        <p:nvSpPr>
          <p:cNvPr id="4" name="Rectangle 3"/>
          <p:cNvSpPr/>
          <p:nvPr/>
        </p:nvSpPr>
        <p:spPr>
          <a:xfrm>
            <a:off x="619109" y="1466849"/>
            <a:ext cx="5324341" cy="5238749"/>
          </a:xfrm>
          <a:prstGeom prst="rect">
            <a:avLst/>
          </a:prstGeom>
          <a:solidFill>
            <a:srgbClr val="F5F5F4"/>
          </a:solidFill>
          <a:ln w="1651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66753" y="1760154"/>
            <a:ext cx="342891" cy="289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3941" y="1752599"/>
            <a:ext cx="164778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525252"/>
                </a:solidFill>
                <a:latin typeface="IBM Plex Mono"/>
                <a:rFonts ascii="IBM Plex Mono" hAnsi="IBM Plex Mono" eastAsia="IBM Plex Mono" cs="IBM Plex Mono"/>
              </a:rPr>
              <a:t>OLD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866753" y="2286000"/>
            <a:ext cx="4829054" cy="2247899"/>
          </a:xfrm>
          <a:prstGeom prst="rect">
            <a:avLst/>
          </a:prstGeom>
          <a:solidFill>
            <a:srgbClr val="FFFFFF"/>
          </a:solidFill>
          <a:ln w="1651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6298" y="2495550"/>
            <a:ext cx="44099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298" y="2762249"/>
            <a:ext cx="440996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NO ENSEMBLE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2990775" y="3440956"/>
            <a:ext cx="571485" cy="3951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76298" y="4019549"/>
            <a:ext cx="2171645" cy="3048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6298" y="4019549"/>
            <a:ext cx="217164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RandomForest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4617" y="4019549"/>
            <a:ext cx="2171645" cy="3048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4617" y="4019549"/>
            <a:ext cx="217164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LogisticRegression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6753" y="4686300"/>
            <a:ext cx="4829054" cy="1181099"/>
          </a:xfrm>
          <a:prstGeom prst="rect">
            <a:avLst/>
          </a:prstGeom>
          <a:solidFill>
            <a:srgbClr val="EAB30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342244" y="5210809"/>
            <a:ext cx="11810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19149" y="4837175"/>
            <a:ext cx="133346" cy="1173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28694" y="4819650"/>
            <a:ext cx="7524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C1917"/>
                </a:solidFill>
                <a:latin typeface="IBM Plex Mono"/>
                <a:rFonts ascii="IBM Plex Mono" hAnsi="IBM Plex Mono" eastAsia="IBM Plex Mono" cs="IBM Plex Mono"/>
              </a:rPr>
              <a:t>LIMITATIONS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149" y="5029200"/>
            <a:ext cx="4562360" cy="1524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• Single model predictions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149" y="5219700"/>
            <a:ext cx="4562360" cy="1524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• No diversity in predictions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149" y="5410199"/>
            <a:ext cx="4562360" cy="1524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• Higher variance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149" y="5600700"/>
            <a:ext cx="4562360" cy="1524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• No complementary strengths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6753" y="5981699"/>
            <a:ext cx="4829054" cy="38099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1050" y="6095999"/>
            <a:ext cx="46004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Performance limited to single model capability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243" y="1466849"/>
            <a:ext cx="5324341" cy="5238749"/>
          </a:xfrm>
          <a:prstGeom prst="rect">
            <a:avLst/>
          </a:prstGeom>
          <a:solidFill>
            <a:srgbClr val="047857">
              <a:alpha val="5000"/>
            </a:srgbClr>
          </a:solidFill>
          <a:ln w="1651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34366" y="1485900"/>
            <a:ext cx="1219169" cy="1219200"/>
          </a:xfrm>
          <a:prstGeom prst="roundRect">
            <a:avLst>
              <a:gd name="adj" fmla="val 0"/>
            </a:avLst>
          </a:prstGeom>
          <a:solidFill>
            <a:srgbClr val="84CC1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95887" y="1766066"/>
            <a:ext cx="342891" cy="27786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953076" y="1752599"/>
            <a:ext cx="23335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47857"/>
                </a:solidFill>
                <a:latin typeface="IBM Plex Mono"/>
                <a:rFonts ascii="IBM Plex Mono" hAnsi="IBM Plex Mono" eastAsia="IBM Plex Mono" cs="IBM Plex Mono"/>
              </a:rPr>
              <a:t>IMPROVED APPROACH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5887" y="2286000"/>
            <a:ext cx="4829054" cy="876299"/>
          </a:xfrm>
          <a:prstGeom prst="rect">
            <a:avLst/>
          </a:prstGeom>
          <a:solidFill>
            <a:srgbClr val="FFFFFF"/>
          </a:solidFill>
          <a:ln w="1651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67333" y="2457450"/>
            <a:ext cx="44861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7333" y="2686050"/>
            <a:ext cx="448616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47857"/>
                </a:solidFill>
                <a:latin typeface="IBM Plex Sans"/>
                <a:rFonts ascii="IBM Plex Sans" hAnsi="IBM Plex Sans" eastAsia="IBM Plex Sans" cs="IBM Plex Sans"/>
              </a:rPr>
              <a:t>STACKING ENSEMBLE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5887" y="3276599"/>
            <a:ext cx="4829054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6276177" y="3496309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48283" y="3390899"/>
            <a:ext cx="18573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Base Model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48283" y="3581400"/>
            <a:ext cx="18573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IsolationForest (Anomaly Detection)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982050" y="3453765"/>
            <a:ext cx="228594" cy="21717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762780" y="3973285"/>
            <a:ext cx="285742" cy="244928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6495887" y="4343400"/>
            <a:ext cx="4829054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6276177" y="4563110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48283" y="4457700"/>
            <a:ext cx="122869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Base Model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8283" y="4648200"/>
            <a:ext cx="12286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XGBoost (Classification)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982050" y="4566284"/>
            <a:ext cx="228594" cy="125729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762780" y="5040085"/>
            <a:ext cx="285742" cy="244928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6495887" y="5410199"/>
            <a:ext cx="4829054" cy="609600"/>
          </a:xfrm>
          <a:prstGeom prst="rect">
            <a:avLst/>
          </a:prstGeom>
          <a:solidFill>
            <a:srgbClr val="047857"/>
          </a:solidFill>
          <a:ln w="1651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9234" y="5543550"/>
            <a:ext cx="21621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BM Plex Sans"/>
                <a:rFonts ascii="IBM Plex Sans" hAnsi="IBM Plex Sans" eastAsia="IBM Plex Sans" cs="IBM Plex Sans"/>
              </a:rPr>
              <a:t>Meta-Learner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234" y="5734050"/>
            <a:ext cx="216212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D4D4D4"/>
                </a:solidFill>
                <a:latin typeface="IBM Plex Sans"/>
                <a:rFonts ascii="IBM Plex Sans" hAnsi="IBM Plex Sans" eastAsia="IBM Plex Sans" cs="IBM Plex Sans"/>
              </a:rPr>
              <a:t>LogisticRegression (combines predictions)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0963000" y="5629275"/>
            <a:ext cx="228594" cy="17145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495887" y="6172200"/>
            <a:ext cx="4829054" cy="1371600"/>
          </a:xfrm>
          <a:prstGeom prst="rect">
            <a:avLst/>
          </a:prstGeom>
          <a:solidFill>
            <a:srgbClr val="22C55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5876127" y="6791960"/>
            <a:ext cx="1371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648283" y="6323076"/>
            <a:ext cx="133346" cy="11734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857828" y="6305550"/>
            <a:ext cx="164778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22C55E"/>
                </a:solidFill>
                <a:latin typeface="IBM Plex Mono"/>
                <a:rFonts ascii="IBM Plex Mono" hAnsi="IBM Plex Mono" eastAsia="IBM Plex Mono" cs="IBM Plex Mono"/>
              </a:rPr>
              <a:t>WHY STACKING IS POWERFUL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48283" y="6515100"/>
            <a:ext cx="4562360" cy="1524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• Learns optimal weight for each base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109" y="619124"/>
            <a:ext cx="6829254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DEEP LEARNING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43971" y="885825"/>
            <a:ext cx="4381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DL.08</a:t>
            </a:r>
          </a:p>
        </p:txBody>
      </p:sp>
      <p:sp>
        <p:nvSpPr>
          <p:cNvPr id="4" name="Rectangle 3"/>
          <p:cNvSpPr/>
          <p:nvPr/>
        </p:nvSpPr>
        <p:spPr>
          <a:xfrm>
            <a:off x="619109" y="1466849"/>
            <a:ext cx="5324341" cy="5238749"/>
          </a:xfrm>
          <a:prstGeom prst="rect">
            <a:avLst/>
          </a:prstGeom>
          <a:solidFill>
            <a:srgbClr val="F5F5F4"/>
          </a:solidFill>
          <a:ln w="1651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66753" y="1760154"/>
            <a:ext cx="342891" cy="289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3941" y="1752599"/>
            <a:ext cx="192400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525252"/>
                </a:solidFill>
                <a:latin typeface="IBM Plex Mono"/>
                <a:rFonts ascii="IBM Plex Mono" hAnsi="IBM Plex Mono" eastAsia="IBM Plex Mono" cs="IBM Plex Mono"/>
              </a:rPr>
              <a:t>CURRENT STATUS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6753" y="2286000"/>
            <a:ext cx="4829054" cy="1714500"/>
          </a:xfrm>
          <a:prstGeom prst="rect">
            <a:avLst/>
          </a:prstGeom>
          <a:solidFill>
            <a:srgbClr val="FFFFFF"/>
          </a:solidFill>
          <a:ln w="1651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2990775" y="2541148"/>
            <a:ext cx="571485" cy="4803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6298" y="3181350"/>
            <a:ext cx="440996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794" b="1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NOT IMPLEMENTED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298" y="3600450"/>
            <a:ext cx="44099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Deep learning not used in either 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6753" y="4152899"/>
            <a:ext cx="4829054" cy="5715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1050" y="4267199"/>
            <a:ext cx="46004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525252"/>
                </a:solidFill>
                <a:latin typeface="IBM Plex Mono"/>
                <a:rFonts ascii="IBM Plex Mono" hAnsi="IBM Plex Mono" eastAsia="IBM Plex Mono" cs="IBM Plex Mono"/>
              </a:rPr>
              <a:t>OLD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50" y="4457700"/>
            <a:ext cx="46004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Traditional ML only: RandomForest, LogisticRegression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6753" y="4838699"/>
            <a:ext cx="4829054" cy="5715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1050" y="4952999"/>
            <a:ext cx="46004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525252"/>
                </a:solidFill>
                <a:latin typeface="IBM Plex Mono"/>
                <a:rFonts ascii="IBM Plex Mono" hAnsi="IBM Plex Mono" eastAsia="IBM Plex Mono" cs="IBM Plex Mono"/>
              </a:rPr>
              <a:t>IMPROVED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50" y="5143500"/>
            <a:ext cx="46004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Advanced ML only: XGBoost, IsolationForest, Stacking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6753" y="5524499"/>
            <a:ext cx="4829054" cy="571500"/>
          </a:xfrm>
          <a:prstGeom prst="rect">
            <a:avLst/>
          </a:prstGeom>
          <a:solidFill>
            <a:srgbClr val="EAB30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647043" y="5744209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149" y="5638799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1C1917"/>
                </a:solidFill>
                <a:latin typeface="IBM Plex Mono"/>
                <a:rFonts ascii="IBM Plex Mono" hAnsi="IBM Plex Mono" eastAsia="IBM Plex Mono" cs="IBM Plex Mono"/>
              </a:rPr>
              <a:t>WHY?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149" y="5829300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Tabular data with limited features (18-24) → Traditional ML more efficient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243" y="1466849"/>
            <a:ext cx="5324341" cy="5238749"/>
          </a:xfrm>
          <a:prstGeom prst="rect">
            <a:avLst/>
          </a:prstGeom>
          <a:solidFill>
            <a:srgbClr val="047857">
              <a:alpha val="5000"/>
            </a:srgbClr>
          </a:solidFill>
          <a:ln w="1651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34366" y="1485900"/>
            <a:ext cx="1219169" cy="1219200"/>
          </a:xfrm>
          <a:prstGeom prst="roundRect">
            <a:avLst>
              <a:gd name="adj" fmla="val 0"/>
            </a:avLst>
          </a:prstGeom>
          <a:solidFill>
            <a:srgbClr val="84CC1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95887" y="1771978"/>
            <a:ext cx="342891" cy="26604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53076" y="1752599"/>
            <a:ext cx="219069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47857"/>
                </a:solidFill>
                <a:latin typeface="IBM Plex Mono"/>
                <a:rFonts ascii="IBM Plex Mono" hAnsi="IBM Plex Mono" eastAsia="IBM Plex Mono" cs="IBM Plex Mono"/>
              </a:rPr>
              <a:t>FUTURE POTENTIAL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5887" y="2286000"/>
            <a:ext cx="4829054" cy="876299"/>
          </a:xfrm>
          <a:prstGeom prst="rect">
            <a:avLst/>
          </a:prstGeom>
          <a:solidFill>
            <a:srgbClr val="FFFFFF"/>
          </a:solidFill>
          <a:ln w="1651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67333" y="2457450"/>
            <a:ext cx="44861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CONSIDER FOR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333" y="2686050"/>
            <a:ext cx="448616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47857"/>
                </a:solidFill>
                <a:latin typeface="IBM Plex Sans"/>
                <a:rFonts ascii="IBM Plex Sans" hAnsi="IBM Plex Sans" eastAsia="IBM Plex Sans" cs="IBM Plex Sans"/>
              </a:rPr>
              <a:t>FUTURE ITERATIONS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5887" y="3276599"/>
            <a:ext cx="4829054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6276177" y="3496309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48283" y="3460432"/>
            <a:ext cx="228594" cy="16573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53076" y="3390899"/>
            <a:ext cx="16668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NEURAL NETWORKS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53076" y="3581400"/>
            <a:ext cx="166683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For complex feature interactions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5887" y="3924299"/>
            <a:ext cx="4829054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6276177" y="4144009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648283" y="4108132"/>
            <a:ext cx="228594" cy="16573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953076" y="4038599"/>
            <a:ext cx="17335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AUTOENCODERS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53076" y="4229100"/>
            <a:ext cx="17335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Anomaly detection improvements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5887" y="4572000"/>
            <a:ext cx="4829054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6276177" y="4791710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48283" y="4755832"/>
            <a:ext cx="228594" cy="16573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953076" y="4686300"/>
            <a:ext cx="12572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RNNs/LSTMs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53076" y="4876800"/>
            <a:ext cx="125726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If sequential data added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5887" y="5295899"/>
            <a:ext cx="4829054" cy="1143000"/>
          </a:xfrm>
          <a:prstGeom prst="rect">
            <a:avLst/>
          </a:prstGeom>
          <a:solidFill>
            <a:srgbClr val="22C55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 rot="16200000">
            <a:off x="5990427" y="5801359"/>
            <a:ext cx="1143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48283" y="5410199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22C55E"/>
                </a:solidFill>
                <a:latin typeface="IBM Plex Mono"/>
                <a:rFonts ascii="IBM Plex Mono" hAnsi="IBM Plex Mono" eastAsia="IBM Plex Mono" cs="IBM Plex Mono"/>
              </a:rPr>
              <a:t>WHY ADD LATER?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48283" y="5600700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• Larger datasets available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48283" y="5791200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• More features collected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48283" y="5981699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• Computational resources permit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48283" y="6172200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• Need for higher accuracy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109" y="619124"/>
            <a:ext cx="5486262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8723" y="885825"/>
            <a:ext cx="5238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MET.09</a:t>
            </a:r>
          </a:p>
        </p:txBody>
      </p:sp>
      <p:sp>
        <p:nvSpPr>
          <p:cNvPr id="4" name="Rectangle 3"/>
          <p:cNvSpPr/>
          <p:nvPr/>
        </p:nvSpPr>
        <p:spPr>
          <a:xfrm>
            <a:off x="619109" y="1466849"/>
            <a:ext cx="5324341" cy="5238749"/>
          </a:xfrm>
          <a:prstGeom prst="rect">
            <a:avLst/>
          </a:prstGeom>
          <a:solidFill>
            <a:srgbClr val="F5F5F4"/>
          </a:solidFill>
          <a:ln w="1651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66753" y="1771978"/>
            <a:ext cx="342891" cy="2660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3941" y="1752599"/>
            <a:ext cx="150491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525252"/>
                </a:solidFill>
                <a:latin typeface="IBM Plex Mono"/>
                <a:rFonts ascii="IBM Plex Mono" hAnsi="IBM Plex Mono" eastAsia="IBM Plex Mono" cs="IBM Plex Mono"/>
              </a:rPr>
              <a:t>OLD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866753" y="2286000"/>
            <a:ext cx="4829054" cy="1543050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674" y="2466975"/>
            <a:ext cx="5619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ROC-AUC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305292" y="2493645"/>
            <a:ext cx="228594" cy="1371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28674" y="2752725"/>
            <a:ext cx="4505212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sz="4305" b="1">
                <a:solidFill>
                  <a:srgbClr val="84CC16"/>
                </a:solidFill>
                <a:latin typeface="JetBrains Mono"/>
                <a:rFonts ascii="JetBrains Mono" hAnsi="JetBrains Mono" eastAsia="JetBrains Mono" cs="JetBrains Mono"/>
              </a:rPr>
              <a:t>0.72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674" y="3514725"/>
            <a:ext cx="450521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Moderate discriminative 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6753" y="3981449"/>
            <a:ext cx="4829054" cy="1543050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8674" y="4162424"/>
            <a:ext cx="4762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RECALL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305292" y="4167663"/>
            <a:ext cx="228594" cy="18002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8674" y="4448175"/>
            <a:ext cx="4505212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sz="4305" b="1">
                <a:solidFill>
                  <a:srgbClr val="84CC16"/>
                </a:solidFill>
                <a:latin typeface="JetBrains Mono"/>
                <a:rFonts ascii="JetBrains Mono" hAnsi="JetBrains Mono" eastAsia="JetBrains Mono" cs="JetBrains Mono"/>
              </a:rPr>
              <a:t>0.68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674" y="5210174"/>
            <a:ext cx="450521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Misses 32% of positive cases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6753" y="5676900"/>
            <a:ext cx="4829054" cy="1543050"/>
          </a:xfrm>
          <a:prstGeom prst="rect">
            <a:avLst/>
          </a:prstGeom>
          <a:solidFill>
            <a:srgbClr val="FFFFFF"/>
          </a:solidFill>
          <a:ln w="8255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8674" y="5857875"/>
            <a:ext cx="72388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PRECISION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305292" y="5850255"/>
            <a:ext cx="228594" cy="20573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28674" y="6143625"/>
            <a:ext cx="4505212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sz="4305" b="1">
                <a:solidFill>
                  <a:srgbClr val="84CC16"/>
                </a:solidFill>
                <a:latin typeface="JetBrains Mono"/>
                <a:rFonts ascii="JetBrains Mono" hAnsi="JetBrains Mono" eastAsia="JetBrains Mono" cs="JetBrains Mono"/>
              </a:rPr>
              <a:t>0.71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674" y="6905625"/>
            <a:ext cx="450521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29% false positive 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6753" y="7372350"/>
            <a:ext cx="4829054" cy="380999"/>
          </a:xfrm>
          <a:prstGeom prst="rect">
            <a:avLst/>
          </a:prstGeom>
          <a:solidFill>
            <a:srgbClr val="EAB30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742294" y="7496809"/>
            <a:ext cx="380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9149" y="7486650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Limited feature engineering and basic models constrain performance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243" y="1466849"/>
            <a:ext cx="5324341" cy="5238749"/>
          </a:xfrm>
          <a:prstGeom prst="rect">
            <a:avLst/>
          </a:prstGeom>
          <a:solidFill>
            <a:srgbClr val="047857">
              <a:alpha val="5000"/>
            </a:srgbClr>
          </a:solidFill>
          <a:ln w="1651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34366" y="1485900"/>
            <a:ext cx="1219169" cy="1219200"/>
          </a:xfrm>
          <a:prstGeom prst="roundRect">
            <a:avLst>
              <a:gd name="adj" fmla="val 0"/>
            </a:avLst>
          </a:prstGeom>
          <a:solidFill>
            <a:srgbClr val="84CC1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95887" y="1813362"/>
            <a:ext cx="342891" cy="18327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953076" y="1752599"/>
            <a:ext cx="219069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47857"/>
                </a:solidFill>
                <a:latin typeface="IBM Plex Mono"/>
                <a:rFonts ascii="IBM Plex Mono" hAnsi="IBM Plex Mono" eastAsia="IBM Plex Mono" cs="IBM Plex Mono"/>
              </a:rPr>
              <a:t>IMPROVED PROJECT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5887" y="2286000"/>
            <a:ext cx="4829054" cy="1752599"/>
          </a:xfrm>
          <a:prstGeom prst="rect">
            <a:avLst/>
          </a:prstGeom>
          <a:solidFill>
            <a:srgbClr val="FFFFFF"/>
          </a:solidFill>
          <a:ln w="1651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67333" y="2476499"/>
            <a:ext cx="5619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ROC-AUC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924901" y="2503170"/>
            <a:ext cx="228594" cy="13715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667333" y="2762249"/>
            <a:ext cx="4486162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sz="4305" b="1">
                <a:solidFill>
                  <a:srgbClr val="84CC16"/>
                </a:solidFill>
                <a:latin typeface="JetBrains Mono"/>
                <a:rFonts ascii="JetBrains Mono" hAnsi="JetBrains Mono" eastAsia="JetBrains Mono" cs="JetBrains Mono"/>
              </a:rPr>
              <a:t>0.86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333" y="3524250"/>
            <a:ext cx="448616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1">
                <a:solidFill>
                  <a:srgbClr val="22C55E"/>
                </a:solidFill>
                <a:latin typeface="IBM Plex Sans"/>
                <a:rFonts ascii="IBM Plex Sans" hAnsi="IBM Plex Sans" eastAsia="IBM Plex Sans" cs="IBM Plex Sans"/>
              </a:rPr>
              <a:t>+19% improvement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7333" y="3714750"/>
            <a:ext cx="448616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Excellent discrimination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5887" y="4190999"/>
            <a:ext cx="4829054" cy="1752599"/>
          </a:xfrm>
          <a:prstGeom prst="rect">
            <a:avLst/>
          </a:prstGeom>
          <a:solidFill>
            <a:srgbClr val="FFFFFF"/>
          </a:solidFill>
          <a:ln w="1651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67333" y="4381499"/>
            <a:ext cx="4762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RECALL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924901" y="4386738"/>
            <a:ext cx="228594" cy="18002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667333" y="4667249"/>
            <a:ext cx="4486162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sz="4305" b="1">
                <a:solidFill>
                  <a:srgbClr val="84CC16"/>
                </a:solidFill>
                <a:latin typeface="JetBrains Mono"/>
                <a:rFonts ascii="JetBrains Mono" hAnsi="JetBrains Mono" eastAsia="JetBrains Mono" cs="JetBrains Mono"/>
              </a:rPr>
              <a:t>0.82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67333" y="5429250"/>
            <a:ext cx="448616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1">
                <a:solidFill>
                  <a:srgbClr val="22C55E"/>
                </a:solidFill>
                <a:latin typeface="IBM Plex Sans"/>
                <a:rFonts ascii="IBM Plex Sans" hAnsi="IBM Plex Sans" eastAsia="IBM Plex Sans" cs="IBM Plex Sans"/>
              </a:rPr>
              <a:t>+21% improvement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67333" y="5619750"/>
            <a:ext cx="448616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Catches 82% of high-risk patients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5887" y="6095999"/>
            <a:ext cx="4829054" cy="1752599"/>
          </a:xfrm>
          <a:prstGeom prst="rect">
            <a:avLst/>
          </a:prstGeom>
          <a:solidFill>
            <a:srgbClr val="FFFFFF"/>
          </a:solidFill>
          <a:ln w="1651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67333" y="6286500"/>
            <a:ext cx="72388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PRECISION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0924901" y="6278880"/>
            <a:ext cx="228594" cy="20573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667333" y="6572250"/>
            <a:ext cx="4486162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sz="4305" b="1">
                <a:solidFill>
                  <a:srgbClr val="84CC16"/>
                </a:solidFill>
                <a:latin typeface="JetBrains Mono"/>
                <a:rFonts ascii="JetBrains Mono" hAnsi="JetBrains Mono" eastAsia="JetBrains Mono" cs="JetBrains Mono"/>
              </a:rPr>
              <a:t>0.79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67333" y="7334249"/>
            <a:ext cx="448616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+11% improvement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67333" y="7524749"/>
            <a:ext cx="448616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Fewer unnecessary interventions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5887" y="8001000"/>
            <a:ext cx="4829054" cy="571500"/>
          </a:xfrm>
          <a:prstGeom prst="rect">
            <a:avLst/>
          </a:prstGeom>
          <a:solidFill>
            <a:srgbClr val="22C55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 rot="16200000">
            <a:off x="6276177" y="8220710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48283" y="8115300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22C55E"/>
                </a:solidFill>
                <a:latin typeface="IBM Plex Mono"/>
                <a:rFonts ascii="IBM Plex Mono" hAnsi="IBM Plex Mono" eastAsia="IBM Plex Mono" cs="IBM Plex Mono"/>
              </a:rPr>
              <a:t>KEY DRIVERS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48283" y="8305799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Stacking ensemble + Risk_Score feature + XGBoost = Superior predictive power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109" y="619124"/>
            <a:ext cx="7381690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SYSTEM INTELLIGENCE UPGRADE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8723" y="885825"/>
            <a:ext cx="5238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UPG.10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19109" y="1466849"/>
            <a:ext cx="5324341" cy="5238749"/>
          </a:xfrm>
          <a:prstGeom prst="rect">
            <a:avLst/>
          </a:prstGeom>
          <a:solidFill>
            <a:srgbClr val="F5F5F4"/>
          </a:solidFill>
          <a:ln w="1651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66753" y="1825187"/>
            <a:ext cx="342891" cy="159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3941" y="1752599"/>
            <a:ext cx="192400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525252"/>
                </a:solidFill>
                <a:latin typeface="IBM Plex Mono"/>
                <a:rFonts ascii="IBM Plex Mono" hAnsi="IBM Plex Mono" eastAsia="IBM Plex Mono" cs="IBM Plex Mono"/>
              </a:rPr>
              <a:t>CURRENT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866753" y="2286000"/>
            <a:ext cx="4829054" cy="1714500"/>
          </a:xfrm>
          <a:prstGeom prst="rect">
            <a:avLst/>
          </a:prstGeom>
          <a:solidFill>
            <a:srgbClr val="FFFFFF"/>
          </a:solidFill>
          <a:ln w="1651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6298" y="2495550"/>
            <a:ext cx="44099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CLASSIFICATION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298" y="2724150"/>
            <a:ext cx="440996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BINARY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76438" y="3114675"/>
            <a:ext cx="561960" cy="742950"/>
          </a:xfrm>
          <a:prstGeom prst="roundRect">
            <a:avLst>
              <a:gd name="adj" fmla="val 13559"/>
            </a:avLst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2638359" y="3284220"/>
            <a:ext cx="228594" cy="194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90735" y="3590924"/>
            <a:ext cx="33336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NO (0)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2696" y="3333749"/>
            <a:ext cx="22859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D4D4D4"/>
                </a:solidFill>
                <a:latin typeface="IBM Plex Sans"/>
                <a:rFonts ascii="IBM Plex Sans" hAnsi="IBM Plex Sans" eastAsia="IBM Plex Sans" cs="IBM Plex Sans"/>
              </a:rPr>
              <a:t>vs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6062" y="3114675"/>
            <a:ext cx="600059" cy="742950"/>
          </a:xfrm>
          <a:prstGeom prst="roundRect">
            <a:avLst>
              <a:gd name="adj" fmla="val 12698"/>
            </a:avLst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676558" y="3284220"/>
            <a:ext cx="228594" cy="19430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00359" y="3590924"/>
            <a:ext cx="37146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YES (1)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6753" y="4152899"/>
            <a:ext cx="4829054" cy="5715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1050" y="4267199"/>
            <a:ext cx="46004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525252"/>
                </a:solidFill>
                <a:latin typeface="IBM Plex Mono"/>
                <a:rFonts ascii="IBM Plex Mono" hAnsi="IBM Plex Mono" eastAsia="IBM Plex Mono" cs="IBM Plex Mono"/>
              </a:rPr>
              <a:t>BOTH VERSIONS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050" y="4457700"/>
            <a:ext cx="46004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Same binary classification: No heart disease vs Heart disease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6753" y="4838699"/>
            <a:ext cx="4829054" cy="5715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1050" y="4952999"/>
            <a:ext cx="46004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525252"/>
                </a:solidFill>
                <a:latin typeface="IBM Plex Mono"/>
                <a:rFonts ascii="IBM Plex Mono" hAnsi="IBM Plex Mono" eastAsia="IBM Plex Mono" cs="IBM Plex Mono"/>
              </a:rPr>
              <a:t>DECISION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050" y="5143500"/>
            <a:ext cx="46004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Simple yes/no prediction limits clinical utility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6753" y="5524499"/>
            <a:ext cx="4829054" cy="571500"/>
          </a:xfrm>
          <a:prstGeom prst="rect">
            <a:avLst/>
          </a:prstGeom>
          <a:solidFill>
            <a:srgbClr val="EAB30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647043" y="5744209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149" y="5638799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1C1917"/>
                </a:solidFill>
                <a:latin typeface="IBM Plex Mono"/>
                <a:rFonts ascii="IBM Plex Mono" hAnsi="IBM Plex Mono" eastAsia="IBM Plex Mono" cs="IBM Plex Mono"/>
              </a:rPr>
              <a:t>LIMITATION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149" y="5829300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Cannot differentiate risk levels or prioritize patients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8243" y="1466849"/>
            <a:ext cx="5324341" cy="5238749"/>
          </a:xfrm>
          <a:prstGeom prst="rect">
            <a:avLst/>
          </a:prstGeom>
          <a:solidFill>
            <a:srgbClr val="047857">
              <a:alpha val="5000"/>
            </a:srgbClr>
          </a:solidFill>
          <a:ln w="1651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334366" y="1485900"/>
            <a:ext cx="1219169" cy="1219200"/>
          </a:xfrm>
          <a:prstGeom prst="roundRect">
            <a:avLst>
              <a:gd name="adj" fmla="val 0"/>
            </a:avLst>
          </a:prstGeom>
          <a:solidFill>
            <a:srgbClr val="84CC1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95887" y="1783802"/>
            <a:ext cx="342891" cy="24239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53076" y="1752599"/>
            <a:ext cx="219069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47857"/>
                </a:solidFill>
                <a:latin typeface="IBM Plex Mono"/>
                <a:rFonts ascii="IBM Plex Mono" hAnsi="IBM Plex Mono" eastAsia="IBM Plex Mono" cs="IBM Plex Mono"/>
              </a:rPr>
              <a:t>PROPOSED UPGRADE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5887" y="2286000"/>
            <a:ext cx="4829054" cy="876299"/>
          </a:xfrm>
          <a:prstGeom prst="rect">
            <a:avLst/>
          </a:prstGeom>
          <a:solidFill>
            <a:srgbClr val="FFFFFF"/>
          </a:solidFill>
          <a:ln w="1651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7333" y="2457450"/>
            <a:ext cx="44861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CLASSIFICATION TYPE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333" y="2686050"/>
            <a:ext cx="448616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47857"/>
                </a:solidFill>
                <a:latin typeface="IBM Plex Sans"/>
                <a:rFonts ascii="IBM Plex Sans" hAnsi="IBM Plex Sans" eastAsia="IBM Plex Sans" cs="IBM Plex Sans"/>
              </a:rPr>
              <a:t>3-CLASS SYSTEM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5887" y="3276599"/>
            <a:ext cx="4829054" cy="666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6228552" y="3543934"/>
            <a:ext cx="6667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48283" y="3438525"/>
            <a:ext cx="84770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LOW RISK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48283" y="3629025"/>
            <a:ext cx="8477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Probability &lt; 0.3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829654" y="3390899"/>
            <a:ext cx="380990" cy="438149"/>
          </a:xfrm>
          <a:prstGeom prst="roundRect">
            <a:avLst>
              <a:gd name="adj" fmla="val 20000"/>
            </a:avLst>
          </a:prstGeom>
          <a:solidFill>
            <a:srgbClr val="04785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905852" y="3518535"/>
            <a:ext cx="228594" cy="125729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6495887" y="4019549"/>
            <a:ext cx="4829054" cy="666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6228552" y="4286884"/>
            <a:ext cx="6667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48283" y="4181474"/>
            <a:ext cx="112392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MODERATE RISK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48283" y="4371975"/>
            <a:ext cx="112392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0.3 ≤ Probability &lt; 0.7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829654" y="4133849"/>
            <a:ext cx="380990" cy="438149"/>
          </a:xfrm>
          <a:prstGeom prst="roundRect">
            <a:avLst>
              <a:gd name="adj" fmla="val 20000"/>
            </a:avLst>
          </a:prstGeom>
          <a:solidFill>
            <a:srgbClr val="EAB30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905852" y="4304347"/>
            <a:ext cx="228594" cy="40005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6495887" y="4762500"/>
            <a:ext cx="4829054" cy="666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6228552" y="5029835"/>
            <a:ext cx="6667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48283" y="4924424"/>
            <a:ext cx="8381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HIGH RISK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48283" y="5114925"/>
            <a:ext cx="8381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78716C"/>
                </a:solidFill>
                <a:latin typeface="IBM Plex Sans"/>
                <a:rFonts ascii="IBM Plex Sans" hAnsi="IBM Plex Sans" eastAsia="IBM Plex Sans" cs="IBM Plex Sans"/>
              </a:rPr>
              <a:t>Probability ≥ 0.7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829654" y="4876800"/>
            <a:ext cx="380990" cy="438149"/>
          </a:xfrm>
          <a:prstGeom prst="roundRect">
            <a:avLst>
              <a:gd name="adj" fmla="val 20000"/>
            </a:avLst>
          </a:prstGeom>
          <a:solidFill>
            <a:srgbClr val="84CC1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905852" y="5004435"/>
            <a:ext cx="228594" cy="125729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6495887" y="5581649"/>
            <a:ext cx="4829054" cy="1143000"/>
          </a:xfrm>
          <a:prstGeom prst="rect">
            <a:avLst/>
          </a:prstGeom>
          <a:solidFill>
            <a:srgbClr val="22C55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5990427" y="6087109"/>
            <a:ext cx="1143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48283" y="5695949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22C55E"/>
                </a:solidFill>
                <a:latin typeface="IBM Plex Mono"/>
                <a:rFonts ascii="IBM Plex Mono" hAnsi="IBM Plex Mono" eastAsia="IBM Plex Mono" cs="IBM Plex Mono"/>
              </a:rPr>
              <a:t>REAL-WORLD USEFULNESS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48283" y="5886450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• Prioritize high-risk patients for immediate intervention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48283" y="6076950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• Schedule moderate-risk patients for preventive care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48283" y="6267449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• Reduce unnecessary tests for low-risk individuals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48283" y="6457950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525252"/>
                </a:solidFill>
                <a:latin typeface="IBM Plex Sans"/>
                <a:rFonts ascii="IBM Plex Sans" hAnsi="IBM Plex Sans" eastAsia="IBM Plex Sans" cs="IBM Plex Sans"/>
              </a:rPr>
              <a:t>• Optimize healthcare resource allocation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109" y="619124"/>
            <a:ext cx="6524461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STRENGTHS VS WEAKNESSES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43971" y="885825"/>
            <a:ext cx="4381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SW.11</a:t>
            </a:r>
          </a:p>
        </p:txBody>
      </p:sp>
      <p:sp>
        <p:nvSpPr>
          <p:cNvPr id="4" name="Rectangle 3"/>
          <p:cNvSpPr/>
          <p:nvPr/>
        </p:nvSpPr>
        <p:spPr>
          <a:xfrm>
            <a:off x="619109" y="1466849"/>
            <a:ext cx="3447963" cy="5238749"/>
          </a:xfrm>
          <a:prstGeom prst="rect">
            <a:avLst/>
          </a:prstGeom>
          <a:solidFill>
            <a:srgbClr val="F5F5F4"/>
          </a:solidFill>
          <a:ln w="1651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66753" y="1775148"/>
            <a:ext cx="285742" cy="2216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66793" y="1752599"/>
            <a:ext cx="11429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525252"/>
                </a:solidFill>
                <a:latin typeface="IBM Plex Mono"/>
                <a:rFonts ascii="IBM Plex Mono" hAnsi="IBM Plex Mono" eastAsia="IBM Plex Mono" cs="IBM Plex Mono"/>
              </a:rPr>
              <a:t>OLD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866753" y="2247899"/>
            <a:ext cx="2952676" cy="4762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694669" y="2419983"/>
            <a:ext cx="4762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3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19149" y="2398395"/>
            <a:ext cx="228594" cy="1943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23941" y="2362199"/>
            <a:ext cx="194305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Comprehensive data exploration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6753" y="2838450"/>
            <a:ext cx="2952676" cy="4762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694669" y="3010534"/>
            <a:ext cx="4762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3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19149" y="2988945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23941" y="2952750"/>
            <a:ext cx="21049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IterativeImputer for missing values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6753" y="3429000"/>
            <a:ext cx="2952676" cy="4762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694669" y="3601084"/>
            <a:ext cx="4762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3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19149" y="3579495"/>
            <a:ext cx="228594" cy="19430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23941" y="3543300"/>
            <a:ext cx="14763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RobustScaler for outliers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6753" y="4019549"/>
            <a:ext cx="2952676" cy="4762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694669" y="4191633"/>
            <a:ext cx="4762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3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19149" y="4170045"/>
            <a:ext cx="228594" cy="19430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23941" y="4133849"/>
            <a:ext cx="16858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Feature importance 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1865" y="1466849"/>
            <a:ext cx="3447963" cy="5238749"/>
          </a:xfrm>
          <a:prstGeom prst="rect">
            <a:avLst/>
          </a:prstGeom>
          <a:solidFill>
            <a:srgbClr val="047857">
              <a:alpha val="5000"/>
            </a:srgbClr>
          </a:solidFill>
          <a:ln w="1651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86402" y="1485900"/>
            <a:ext cx="914377" cy="914400"/>
          </a:xfrm>
          <a:prstGeom prst="roundRect">
            <a:avLst>
              <a:gd name="adj" fmla="val 0"/>
            </a:avLst>
          </a:prstGeom>
          <a:solidFill>
            <a:srgbClr val="84CC1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619509" y="1769317"/>
            <a:ext cx="285742" cy="23326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19549" y="1752599"/>
            <a:ext cx="11429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47857"/>
                </a:solidFill>
                <a:latin typeface="IBM Plex Mono"/>
                <a:rFonts ascii="IBM Plex Mono" hAnsi="IBM Plex Mono" eastAsia="IBM Plex Mono" cs="IBM Plex Mono"/>
              </a:rPr>
              <a:t>NEW SYSTEM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76898" y="1771650"/>
            <a:ext cx="495287" cy="228600"/>
          </a:xfrm>
          <a:prstGeom prst="roundRect">
            <a:avLst>
              <a:gd name="adj" fmla="val 33333"/>
            </a:avLst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76898" y="1771650"/>
            <a:ext cx="49528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BM Plex Mono"/>
                <a:rFonts ascii="IBM Plex Mono" hAnsi="IBM Plex Mono" eastAsia="IBM Plex Mono" cs="IBM Plex Mono"/>
              </a:rPr>
              <a:t>FOCUS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9509" y="2247899"/>
            <a:ext cx="2952676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4485524" y="2381884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733806" y="2360295"/>
            <a:ext cx="228594" cy="19430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038599" y="2324100"/>
            <a:ext cx="1838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Risk_Score composite feature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19509" y="2724150"/>
            <a:ext cx="2952676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4485524" y="28581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733806" y="2836545"/>
            <a:ext cx="228594" cy="19430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038599" y="2800350"/>
            <a:ext cx="17144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Stacking ensemble strategy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19509" y="3200400"/>
            <a:ext cx="2952676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4485524" y="333438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733806" y="3312795"/>
            <a:ext cx="228594" cy="19430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038599" y="3276599"/>
            <a:ext cx="22954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XGBoost with hyperparameter tuning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9509" y="3676649"/>
            <a:ext cx="2952676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4485524" y="3810634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733806" y="3789045"/>
            <a:ext cx="228594" cy="19430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038599" y="3752849"/>
            <a:ext cx="23240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IsolationForest for anomaly detection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19509" y="4152899"/>
            <a:ext cx="2952676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4485524" y="4286884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733806" y="4265295"/>
            <a:ext cx="228594" cy="19430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038599" y="4229100"/>
            <a:ext cx="1838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+19% ROC-AUC improvement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19509" y="4629150"/>
            <a:ext cx="2952676" cy="400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4485524" y="47631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733806" y="4741545"/>
            <a:ext cx="228594" cy="194309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038599" y="4705350"/>
            <a:ext cx="16382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+21% Recall improvement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24621" y="1466849"/>
            <a:ext cx="3447963" cy="5238749"/>
          </a:xfrm>
          <a:prstGeom prst="rect">
            <a:avLst/>
          </a:prstGeom>
          <a:solidFill>
            <a:srgbClr val="FFFFFF"/>
          </a:solidFill>
          <a:ln w="1651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372265" y="1769317"/>
            <a:ext cx="285742" cy="23326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772305" y="1752599"/>
            <a:ext cx="11429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D9488"/>
                </a:solidFill>
                <a:latin typeface="IBM Plex Mono"/>
                <a:rFonts ascii="IBM Plex Mono" hAnsi="IBM Plex Mono" eastAsia="IBM Plex Mono" cs="IBM Plex Mono"/>
              </a:rPr>
              <a:t>TRADE-OFFS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72265" y="2247899"/>
            <a:ext cx="2952676" cy="1257300"/>
          </a:xfrm>
          <a:prstGeom prst="rect">
            <a:avLst/>
          </a:prstGeom>
          <a:solidFill>
            <a:srgbClr val="0D9488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7809655" y="2810509"/>
            <a:ext cx="12573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62760" y="2400300"/>
            <a:ext cx="26097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0D9488"/>
                </a:solidFill>
                <a:latin typeface="IBM Plex Mono"/>
                <a:rFonts ascii="IBM Plex Mono" hAnsi="IBM Plex Mono" eastAsia="IBM Plex Mono" cs="IBM Plex Mono"/>
              </a:rPr>
              <a:t>PRECISION vs RECALL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62760" y="2667000"/>
            <a:ext cx="2609784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• </a:t>
            </a:r>
            <a:r>
              <a:rPr sz="717" b="1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High Precision:</a:t>
            </a:r>
            <a:r>
              <a:rPr sz="717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 Fewer false positives, reduced unnecessary treatments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62760" y="3047999"/>
            <a:ext cx="2609784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• </a:t>
            </a:r>
            <a:r>
              <a:rPr sz="717" b="1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High Recall:</a:t>
            </a:r>
            <a:r>
              <a:rPr sz="717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 Catches more at-risk patients, prevents missed cases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72265" y="3657600"/>
            <a:ext cx="2952676" cy="1028700"/>
          </a:xfrm>
          <a:prstGeom prst="rect">
            <a:avLst/>
          </a:prstGeom>
          <a:solidFill>
            <a:srgbClr val="EAB30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 Same Side Corner Rectangle 61"/>
          <p:cNvSpPr/>
          <p:nvPr/>
        </p:nvSpPr>
        <p:spPr>
          <a:xfrm rot="16200000">
            <a:off x="7923955" y="4105910"/>
            <a:ext cx="1028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62760" y="3809999"/>
            <a:ext cx="26097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1C1917"/>
                </a:solidFill>
                <a:latin typeface="IBM Plex Mono"/>
                <a:rFonts ascii="IBM Plex Mono" hAnsi="IBM Plex Mono" eastAsia="IBM Plex Mono" cs="IBM Plex Mono"/>
              </a:rPr>
              <a:t>COMPLEXITY vs PERFORMANCE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62760" y="4076699"/>
            <a:ext cx="2609784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New system is more complex but delivers significantly better performance. Worth the trade-off for clinical applications.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72265" y="4838699"/>
            <a:ext cx="2952676" cy="10287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24661" y="4991100"/>
            <a:ext cx="264788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525252"/>
                </a:solidFill>
                <a:latin typeface="IBM Plex Mono"/>
                <a:rFonts ascii="IBM Plex Mono" hAnsi="IBM Plex Mono" eastAsia="IBM Plex Mono" cs="IBM Plex Mono"/>
              </a:rPr>
              <a:t>COMPUTATIONAL COST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24661" y="5257800"/>
            <a:ext cx="2647883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Improved system requires more training time but maintains competitive inference speed suitable for production 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4" y="9525"/>
            <a:ext cx="12172645" cy="6838949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262" y="-38100"/>
            <a:ext cx="1219169" cy="381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9109" y="228600"/>
            <a:ext cx="1095347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1040"/>
              </a:spcAft>
            </a:pPr>
            <a:r>
              <a:rPr sz="2870" b="1">
                <a:solidFill>
                  <a:srgbClr val="1C1917"/>
                </a:solidFill>
                <a:latin typeface="IBM Plex Sans"/>
                <a:rFonts ascii="IBM Plex Sans" hAnsi="IBM Plex Sans" eastAsia="IBM Plex Sans" cs="IBM Plex Sans"/>
              </a:rPr>
              <a:t>FINAL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1985" y="876299"/>
            <a:ext cx="103819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78716C"/>
                </a:solidFill>
                <a:latin typeface="IBM Plex Mono"/>
                <a:rFonts ascii="IBM Plex Mono" hAnsi="IBM Plex Mono" eastAsia="IBM Plex Mono" cs="IBM Plex Mono"/>
              </a:rPr>
              <a:t>SYS.COMPLETE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09" y="1447800"/>
            <a:ext cx="5324341" cy="3771900"/>
          </a:xfrm>
          <a:prstGeom prst="rect">
            <a:avLst/>
          </a:prstGeom>
          <a:solidFill>
            <a:srgbClr val="047857">
              <a:alpha val="5000"/>
            </a:srgbClr>
          </a:solidFill>
          <a:ln w="1651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66753" y="1738604"/>
            <a:ext cx="285742" cy="2565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6793" y="1733550"/>
            <a:ext cx="25145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47857"/>
                </a:solidFill>
                <a:latin typeface="IBM Plex Mono"/>
                <a:rFonts ascii="IBM Plex Mono" hAnsi="IBM Plex Mono" eastAsia="IBM Plex Mono" cs="IBM Plex Mono"/>
              </a:rPr>
              <a:t>WHY IMPROVED IS BETTER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66753" y="2246376"/>
            <a:ext cx="133346" cy="1173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76298" y="2190749"/>
            <a:ext cx="401944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262626"/>
                </a:solidFill>
                <a:latin typeface="IBM Plex Sans"/>
                <a:rFonts ascii="IBM Plex Sans" hAnsi="IBM Plex Sans" eastAsia="IBM Plex Sans" cs="IBM Plex Sans"/>
              </a:rPr>
              <a:t>19% higher ROC-AUC</a:t>
            </a:r>
            <a:r>
              <a:rPr sz="837" b="0">
                <a:solidFill>
                  <a:srgbClr val="262626"/>
                </a:solidFill>
                <a:latin typeface="IBM Plex Sans"/>
                <a:rFonts ascii="IBM Plex Sans" hAnsi="IBM Plex Sans" eastAsia="IBM Plex Sans" cs="IBM Plex Sans"/>
              </a:rPr>
              <a:t> → Better discrimination of heart disease risk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66753" y="2570225"/>
            <a:ext cx="133346" cy="1173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76298" y="2514600"/>
            <a:ext cx="30860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262626"/>
                </a:solidFill>
                <a:latin typeface="IBM Plex Sans"/>
                <a:rFonts ascii="IBM Plex Sans" hAnsi="IBM Plex Sans" eastAsia="IBM Plex Sans" cs="IBM Plex Sans"/>
              </a:rPr>
              <a:t>21% higher Recall</a:t>
            </a:r>
            <a:r>
              <a:rPr sz="837" b="0">
                <a:solidFill>
                  <a:srgbClr val="262626"/>
                </a:solidFill>
                <a:latin typeface="IBM Plex Sans"/>
                <a:rFonts ascii="IBM Plex Sans" hAnsi="IBM Plex Sans" eastAsia="IBM Plex Sans" cs="IBM Plex Sans"/>
              </a:rPr>
              <a:t> → Catches more at-risk patients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66753" y="2894075"/>
            <a:ext cx="133346" cy="1173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76298" y="2838450"/>
            <a:ext cx="30383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262626"/>
                </a:solidFill>
                <a:latin typeface="IBM Plex Sans"/>
                <a:rFonts ascii="IBM Plex Sans" hAnsi="IBM Plex Sans" eastAsia="IBM Plex Sans" cs="IBM Plex Sans"/>
              </a:rPr>
              <a:t>Risk_Score feature</a:t>
            </a:r>
            <a:r>
              <a:rPr sz="837" b="0">
                <a:solidFill>
                  <a:srgbClr val="262626"/>
                </a:solidFill>
                <a:latin typeface="IBM Plex Sans"/>
                <a:rFonts ascii="IBM Plex Sans" hAnsi="IBM Plex Sans" eastAsia="IBM Plex Sans" cs="IBM Plex Sans"/>
              </a:rPr>
              <a:t> → Leverages domain expertise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66753" y="3217925"/>
            <a:ext cx="133346" cy="1173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76298" y="3162299"/>
            <a:ext cx="35051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262626"/>
                </a:solidFill>
                <a:latin typeface="IBM Plex Sans"/>
                <a:rFonts ascii="IBM Plex Sans" hAnsi="IBM Plex Sans" eastAsia="IBM Plex Sans" cs="IBM Plex Sans"/>
              </a:rPr>
              <a:t>Stacking ensemble</a:t>
            </a:r>
            <a:r>
              <a:rPr sz="837" b="0">
                <a:solidFill>
                  <a:srgbClr val="262626"/>
                </a:solidFill>
                <a:latin typeface="IBM Plex Sans"/>
                <a:rFonts ascii="IBM Plex Sans" hAnsi="IBM Plex Sans" eastAsia="IBM Plex Sans" cs="IBM Plex Sans"/>
              </a:rPr>
              <a:t> → Combines multiple model strengths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66753" y="3541775"/>
            <a:ext cx="133346" cy="1173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76298" y="3486150"/>
            <a:ext cx="27907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262626"/>
                </a:solidFill>
                <a:latin typeface="IBM Plex Sans"/>
                <a:rFonts ascii="IBM Plex Sans" hAnsi="IBM Plex Sans" eastAsia="IBM Plex Sans" cs="IBM Plex Sans"/>
              </a:rPr>
              <a:t>Efficient pipeline</a:t>
            </a:r>
            <a:r>
              <a:rPr sz="837" b="0">
                <a:solidFill>
                  <a:srgbClr val="262626"/>
                </a:solidFill>
                <a:latin typeface="IBM Plex Sans"/>
                <a:rFonts ascii="IBM Plex Sans" hAnsi="IBM Plex Sans" eastAsia="IBM Plex Sans" cs="IBM Plex Sans"/>
              </a:rPr>
              <a:t> → 60% faster preprocessing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243" y="1447800"/>
            <a:ext cx="5324341" cy="3771900"/>
          </a:xfrm>
          <a:prstGeom prst="rect">
            <a:avLst/>
          </a:prstGeom>
          <a:solidFill>
            <a:srgbClr val="0D9488">
              <a:alpha val="5000"/>
            </a:srgbClr>
          </a:solidFill>
          <a:ln w="1651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95887" y="1744435"/>
            <a:ext cx="285742" cy="2449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95927" y="1733550"/>
            <a:ext cx="2400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D9488"/>
                </a:solidFill>
                <a:latin typeface="IBM Plex Mono"/>
                <a:rFonts ascii="IBM Plex Mono" hAnsi="IBM Plex Mono" eastAsia="IBM Plex Mono" cs="IBM Plex Mono"/>
              </a:rPr>
              <a:t>REAL-WORLD DEPLOYMENT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5887" y="2190749"/>
            <a:ext cx="4829054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6257127" y="2429509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8283" y="2305049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0D9488"/>
                </a:solidFill>
                <a:latin typeface="IBM Plex Mono"/>
                <a:rFonts ascii="IBM Plex Mono" hAnsi="IBM Plex Mono" eastAsia="IBM Plex Mono" cs="IBM Plex Mono"/>
              </a:rPr>
              <a:t>HEALTHCARE SCREENING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8283" y="2495550"/>
            <a:ext cx="45623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Early identification of high-risk patients in primary care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5887" y="2914650"/>
            <a:ext cx="4829054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6257127" y="3153410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8283" y="3028950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0D9488"/>
                </a:solidFill>
                <a:latin typeface="IBM Plex Mono"/>
                <a:rFonts ascii="IBM Plex Mono" hAnsi="IBM Plex Mono" eastAsia="IBM Plex Mono" cs="IBM Plex Mono"/>
              </a:rPr>
              <a:t>DECISION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8283" y="3219449"/>
            <a:ext cx="45623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Assist physicians in prioritizing interventions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5887" y="3638550"/>
            <a:ext cx="4829054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6257127" y="3877310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8283" y="3752849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0D9488"/>
                </a:solidFill>
                <a:latin typeface="IBM Plex Mono"/>
                <a:rFonts ascii="IBM Plex Mono" hAnsi="IBM Plex Mono" eastAsia="IBM Plex Mono" cs="IBM Plex Mono"/>
              </a:rPr>
              <a:t>POPULATION HEALTH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8283" y="3943350"/>
            <a:ext cx="45623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Community-level risk assessment and resource allocation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5887" y="4362450"/>
            <a:ext cx="4829054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6257127" y="4601210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48283" y="4476750"/>
            <a:ext cx="45623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0D9488"/>
                </a:solidFill>
                <a:latin typeface="IBM Plex Mono"/>
                <a:rFonts ascii="IBM Plex Mono" hAnsi="IBM Plex Mono" eastAsia="IBM Plex Mono" cs="IBM Plex Mono"/>
              </a:rPr>
              <a:t>TELEMEDICINE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48283" y="4667249"/>
            <a:ext cx="45623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04040"/>
                </a:solidFill>
                <a:latin typeface="IBM Plex Sans"/>
                <a:rFonts ascii="IBM Plex Sans" hAnsi="IBM Plex Sans" eastAsia="IBM Plex Sans" cs="IBM Plex Sans"/>
              </a:rPr>
              <a:t>Remote health risk evaluation for virtual consultations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109" y="5524499"/>
            <a:ext cx="10953476" cy="914400"/>
          </a:xfrm>
          <a:prstGeom prst="rect">
            <a:avLst/>
          </a:prstGeom>
          <a:solidFill>
            <a:srgbClr val="22C55E">
              <a:alpha val="10000"/>
            </a:srgbClr>
          </a:solidFill>
          <a:ln w="1651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047923" y="5902972"/>
            <a:ext cx="285742" cy="15745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447963" y="5734050"/>
            <a:ext cx="56862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2C55E"/>
                </a:solidFill>
                <a:latin typeface="IBM Plex Mono"/>
                <a:rFonts ascii="IBM Plex Mono" hAnsi="IBM Plex Mono" eastAsia="IBM Plex Mono" cs="IBM Plex Mono"/>
              </a:rPr>
              <a:t>RECOMMENDATION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47963" y="6000750"/>
            <a:ext cx="56862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62626"/>
                </a:solidFill>
                <a:latin typeface="IBM Plex Sans"/>
                <a:rFonts ascii="IBM Plex Sans" hAnsi="IBM Plex Sans" eastAsia="IBM Plex Sans" cs="IBM Plex Sans"/>
              </a:rPr>
              <a:t>Deploy improved system for production use in heart disease prediction applications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109" y="6743700"/>
            <a:ext cx="1095347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A3A3A3"/>
                </a:solidFill>
                <a:latin typeface="IBM Plex Mono"/>
                <a:rFonts ascii="IBM Plex Mono" hAnsi="IBM Plex Mono" eastAsia="IBM Plex Mono" cs="IBM Plex Mono"/>
              </a:rPr>
              <a:t>PROJECT COMPLETED //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